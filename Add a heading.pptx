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Bryndan Write" panose="020B0604020202020204" charset="0"/>
      <p:regular r:id="rId20"/>
    </p:embeddedFont>
    <p:embeddedFont>
      <p:font typeface="Canva Sans Bold" panose="020B0604020202020204" charset="0"/>
      <p:regular r:id="rId21"/>
    </p:embeddedFont>
    <p:embeddedFont>
      <p:font typeface="Gochi Hand" panose="020B0604020202020204" charset="0"/>
      <p:regular r:id="rId22"/>
    </p:embeddedFont>
    <p:embeddedFont>
      <p:font typeface="Now" panose="020B0604020202020204" charset="0"/>
      <p:regular r:id="rId23"/>
    </p:embeddedFont>
    <p:embeddedFont>
      <p:font typeface="Now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21.sv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6.svg"/><Relationship Id="rId7" Type="http://schemas.openxmlformats.org/officeDocument/2006/relationships/image" Target="../media/image24.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17.svg"/><Relationship Id="rId4" Type="http://schemas.openxmlformats.org/officeDocument/2006/relationships/image" Target="../media/image22.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4.png"/><Relationship Id="rId7" Type="http://schemas.openxmlformats.org/officeDocument/2006/relationships/image" Target="../media/image37.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svg"/><Relationship Id="rId10" Type="http://schemas.openxmlformats.org/officeDocument/2006/relationships/image" Target="../media/image40.png"/><Relationship Id="rId4" Type="http://schemas.openxmlformats.org/officeDocument/2006/relationships/image" Target="../media/image16.svg"/><Relationship Id="rId9" Type="http://schemas.openxmlformats.org/officeDocument/2006/relationships/image" Target="../media/image39.svg"/></Relationships>
</file>

<file path=ppt/slides/_rels/slide8.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35.svg"/><Relationship Id="rId4" Type="http://schemas.openxmlformats.org/officeDocument/2006/relationships/image" Target="../media/image16.svg"/><Relationship Id="rId9"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34.png"/><Relationship Id="rId7" Type="http://schemas.openxmlformats.org/officeDocument/2006/relationships/image" Target="../media/image4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5.svg"/><Relationship Id="rId5" Type="http://schemas.openxmlformats.org/officeDocument/2006/relationships/image" Target="../media/image44.svg"/><Relationship Id="rId4" Type="http://schemas.openxmlformats.org/officeDocument/2006/relationships/image" Target="../media/image43.svg"/><Relationship Id="rId9" Type="http://schemas.openxmlformats.org/officeDocument/2006/relationships/image" Target="../media/image48.svg"/></Relationships>
</file>

<file path=ppt/slides/_rels/slide18.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9.svg"/><Relationship Id="rId7" Type="http://schemas.openxmlformats.org/officeDocument/2006/relationships/image" Target="../media/image4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43.svg"/><Relationship Id="rId5" Type="http://schemas.openxmlformats.org/officeDocument/2006/relationships/image" Target="../media/image2.svg"/><Relationship Id="rId10" Type="http://schemas.openxmlformats.org/officeDocument/2006/relationships/image" Target="../media/image7.png"/><Relationship Id="rId4" Type="http://schemas.openxmlformats.org/officeDocument/2006/relationships/image" Target="../media/image50.svg"/><Relationship Id="rId9" Type="http://schemas.openxmlformats.org/officeDocument/2006/relationships/image" Target="../media/image5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TextBox 3"/>
          <p:cNvSpPr txBox="1"/>
          <p:nvPr/>
        </p:nvSpPr>
        <p:spPr>
          <a:xfrm>
            <a:off x="5270659" y="104775"/>
            <a:ext cx="8260400" cy="2993868"/>
          </a:xfrm>
          <a:prstGeom prst="rect">
            <a:avLst/>
          </a:prstGeom>
        </p:spPr>
        <p:txBody>
          <a:bodyPr lIns="0" tIns="0" rIns="0" bIns="0" rtlCol="0" anchor="t">
            <a:spAutoFit/>
          </a:bodyPr>
          <a:lstStyle/>
          <a:p>
            <a:pPr algn="ctr">
              <a:lnSpc>
                <a:spcPts val="11105"/>
              </a:lnSpc>
            </a:pPr>
            <a:r>
              <a:rPr lang="en-US" sz="11105">
                <a:solidFill>
                  <a:srgbClr val="FFFFFF"/>
                </a:solidFill>
                <a:latin typeface="Bryndan Write"/>
                <a:ea typeface="Bryndan Write"/>
                <a:cs typeface="Bryndan Write"/>
                <a:sym typeface="Bryndan Write"/>
              </a:rPr>
              <a:t>Business Insights 360</a:t>
            </a:r>
          </a:p>
        </p:txBody>
      </p:sp>
      <p:sp>
        <p:nvSpPr>
          <p:cNvPr id="4" name="Freeform 4"/>
          <p:cNvSpPr/>
          <p:nvPr/>
        </p:nvSpPr>
        <p:spPr>
          <a:xfrm rot="6015001">
            <a:off x="16156875" y="224308"/>
            <a:ext cx="3715300" cy="2519649"/>
          </a:xfrm>
          <a:custGeom>
            <a:avLst/>
            <a:gdLst/>
            <a:ahLst/>
            <a:cxnLst/>
            <a:rect l="l" t="t" r="r" b="b"/>
            <a:pathLst>
              <a:path w="3715300" h="2519649">
                <a:moveTo>
                  <a:pt x="0" y="0"/>
                </a:moveTo>
                <a:lnTo>
                  <a:pt x="3715301" y="0"/>
                </a:lnTo>
                <a:lnTo>
                  <a:pt x="3715301" y="2519649"/>
                </a:lnTo>
                <a:lnTo>
                  <a:pt x="0" y="251964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2567641">
            <a:off x="5020285" y="174483"/>
            <a:ext cx="1490611" cy="1548088"/>
          </a:xfrm>
          <a:custGeom>
            <a:avLst/>
            <a:gdLst/>
            <a:ahLst/>
            <a:cxnLst/>
            <a:rect l="l" t="t" r="r" b="b"/>
            <a:pathLst>
              <a:path w="1490611" h="1548088">
                <a:moveTo>
                  <a:pt x="0" y="0"/>
                </a:moveTo>
                <a:lnTo>
                  <a:pt x="1490610" y="0"/>
                </a:lnTo>
                <a:lnTo>
                  <a:pt x="1490610" y="1548087"/>
                </a:lnTo>
                <a:lnTo>
                  <a:pt x="0" y="154808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280170">
            <a:off x="13742160" y="395836"/>
            <a:ext cx="1227066" cy="1579694"/>
          </a:xfrm>
          <a:custGeom>
            <a:avLst/>
            <a:gdLst/>
            <a:ahLst/>
            <a:cxnLst/>
            <a:rect l="l" t="t" r="r" b="b"/>
            <a:pathLst>
              <a:path w="1227066" h="1579694">
                <a:moveTo>
                  <a:pt x="0" y="0"/>
                </a:moveTo>
                <a:lnTo>
                  <a:pt x="1227067" y="0"/>
                </a:lnTo>
                <a:lnTo>
                  <a:pt x="1227067" y="1579694"/>
                </a:lnTo>
                <a:lnTo>
                  <a:pt x="0" y="15796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028700" y="4531720"/>
            <a:ext cx="9334581" cy="5354201"/>
          </a:xfrm>
          <a:custGeom>
            <a:avLst/>
            <a:gdLst/>
            <a:ahLst/>
            <a:cxnLst/>
            <a:rect l="l" t="t" r="r" b="b"/>
            <a:pathLst>
              <a:path w="9334581" h="5354201">
                <a:moveTo>
                  <a:pt x="0" y="0"/>
                </a:moveTo>
                <a:lnTo>
                  <a:pt x="9334581" y="0"/>
                </a:lnTo>
                <a:lnTo>
                  <a:pt x="9334581" y="5354200"/>
                </a:lnTo>
                <a:lnTo>
                  <a:pt x="0" y="5354200"/>
                </a:lnTo>
                <a:lnTo>
                  <a:pt x="0" y="0"/>
                </a:lnTo>
                <a:close/>
              </a:path>
            </a:pathLst>
          </a:custGeom>
          <a:blipFill>
            <a:blip r:embed="rId6"/>
            <a:stretch>
              <a:fillRect r="-2723"/>
            </a:stretch>
          </a:blipFill>
        </p:spPr>
      </p:sp>
      <p:sp>
        <p:nvSpPr>
          <p:cNvPr id="8" name="Freeform 8"/>
          <p:cNvSpPr/>
          <p:nvPr/>
        </p:nvSpPr>
        <p:spPr>
          <a:xfrm>
            <a:off x="1028700" y="348511"/>
            <a:ext cx="1710998" cy="1674344"/>
          </a:xfrm>
          <a:custGeom>
            <a:avLst/>
            <a:gdLst/>
            <a:ahLst/>
            <a:cxnLst/>
            <a:rect l="l" t="t" r="r" b="b"/>
            <a:pathLst>
              <a:path w="1710998" h="1674344">
                <a:moveTo>
                  <a:pt x="0" y="0"/>
                </a:moveTo>
                <a:lnTo>
                  <a:pt x="1710998" y="0"/>
                </a:lnTo>
                <a:lnTo>
                  <a:pt x="1710998" y="1674344"/>
                </a:lnTo>
                <a:lnTo>
                  <a:pt x="0" y="1674344"/>
                </a:lnTo>
                <a:lnTo>
                  <a:pt x="0" y="0"/>
                </a:lnTo>
                <a:close/>
              </a:path>
            </a:pathLst>
          </a:custGeom>
          <a:blipFill>
            <a:blip r:embed="rId7"/>
            <a:stretch>
              <a:fillRect/>
            </a:stretch>
          </a:blipFill>
        </p:spPr>
      </p:sp>
      <p:grpSp>
        <p:nvGrpSpPr>
          <p:cNvPr id="9" name="Group 9"/>
          <p:cNvGrpSpPr>
            <a:grpSpLocks noChangeAspect="1"/>
          </p:cNvGrpSpPr>
          <p:nvPr/>
        </p:nvGrpSpPr>
        <p:grpSpPr>
          <a:xfrm rot="733569">
            <a:off x="13973558" y="4860057"/>
            <a:ext cx="3073051" cy="3569994"/>
            <a:chOff x="0" y="0"/>
            <a:chExt cx="5466080" cy="6350000"/>
          </a:xfrm>
        </p:grpSpPr>
        <p:sp>
          <p:nvSpPr>
            <p:cNvPr id="10" name="Freeform 10"/>
            <p:cNvSpPr/>
            <p:nvPr/>
          </p:nvSpPr>
          <p:spPr>
            <a:xfrm>
              <a:off x="0" y="0"/>
              <a:ext cx="5438261" cy="6348730"/>
            </a:xfrm>
            <a:custGeom>
              <a:avLst/>
              <a:gdLst/>
              <a:ahLst/>
              <a:cxnLst/>
              <a:rect l="l" t="t" r="r" b="b"/>
              <a:pathLst>
                <a:path w="5438261" h="6348730">
                  <a:moveTo>
                    <a:pt x="5419090" y="0"/>
                  </a:moveTo>
                  <a:lnTo>
                    <a:pt x="19050" y="0"/>
                  </a:lnTo>
                  <a:cubicBezTo>
                    <a:pt x="8890" y="0"/>
                    <a:pt x="0" y="8890"/>
                    <a:pt x="0" y="20320"/>
                  </a:cubicBezTo>
                  <a:lnTo>
                    <a:pt x="0" y="6329680"/>
                  </a:lnTo>
                  <a:cubicBezTo>
                    <a:pt x="0" y="6339840"/>
                    <a:pt x="8890" y="6348730"/>
                    <a:pt x="19050" y="6348730"/>
                  </a:cubicBezTo>
                  <a:lnTo>
                    <a:pt x="5419090" y="6348730"/>
                  </a:lnTo>
                  <a:cubicBezTo>
                    <a:pt x="5429250" y="6348730"/>
                    <a:pt x="5438140" y="6339840"/>
                    <a:pt x="5438140" y="6329680"/>
                  </a:cubicBezTo>
                  <a:lnTo>
                    <a:pt x="5438140" y="20320"/>
                  </a:lnTo>
                  <a:cubicBezTo>
                    <a:pt x="5439410" y="8890"/>
                    <a:pt x="5430520" y="0"/>
                    <a:pt x="5419090" y="0"/>
                  </a:cubicBezTo>
                  <a:close/>
                  <a:moveTo>
                    <a:pt x="5137150" y="314960"/>
                  </a:moveTo>
                  <a:lnTo>
                    <a:pt x="5137150" y="4970780"/>
                  </a:lnTo>
                  <a:cubicBezTo>
                    <a:pt x="5137150" y="4980940"/>
                    <a:pt x="5128260" y="4989830"/>
                    <a:pt x="5118100" y="4989830"/>
                  </a:cubicBezTo>
                  <a:lnTo>
                    <a:pt x="266700" y="4989830"/>
                  </a:lnTo>
                  <a:cubicBezTo>
                    <a:pt x="256540" y="4989830"/>
                    <a:pt x="247650" y="4980940"/>
                    <a:pt x="247650" y="4970780"/>
                  </a:cubicBezTo>
                  <a:lnTo>
                    <a:pt x="247650" y="314960"/>
                  </a:lnTo>
                  <a:cubicBezTo>
                    <a:pt x="247650" y="304800"/>
                    <a:pt x="256540" y="295910"/>
                    <a:pt x="266700" y="295910"/>
                  </a:cubicBezTo>
                  <a:lnTo>
                    <a:pt x="5118100" y="295910"/>
                  </a:lnTo>
                  <a:cubicBezTo>
                    <a:pt x="5129530" y="294640"/>
                    <a:pt x="5137150" y="303530"/>
                    <a:pt x="5137150" y="314960"/>
                  </a:cubicBezTo>
                  <a:close/>
                </a:path>
              </a:pathLst>
            </a:custGeom>
            <a:solidFill>
              <a:srgbClr val="FFFFFF"/>
            </a:solidFill>
          </p:spPr>
        </p:sp>
        <p:sp>
          <p:nvSpPr>
            <p:cNvPr id="11" name="Freeform 11"/>
            <p:cNvSpPr/>
            <p:nvPr/>
          </p:nvSpPr>
          <p:spPr>
            <a:xfrm>
              <a:off x="247650" y="294640"/>
              <a:ext cx="4889500" cy="4693920"/>
            </a:xfrm>
            <a:custGeom>
              <a:avLst/>
              <a:gdLst/>
              <a:ahLst/>
              <a:cxnLst/>
              <a:rect l="l" t="t" r="r" b="b"/>
              <a:pathLst>
                <a:path w="4889500" h="4693920">
                  <a:moveTo>
                    <a:pt x="4870450" y="0"/>
                  </a:moveTo>
                  <a:lnTo>
                    <a:pt x="19050" y="0"/>
                  </a:lnTo>
                  <a:cubicBezTo>
                    <a:pt x="8890" y="0"/>
                    <a:pt x="0" y="8890"/>
                    <a:pt x="0" y="19050"/>
                  </a:cubicBezTo>
                  <a:lnTo>
                    <a:pt x="0" y="4674870"/>
                  </a:lnTo>
                  <a:cubicBezTo>
                    <a:pt x="0" y="4686300"/>
                    <a:pt x="8890" y="4693920"/>
                    <a:pt x="19050" y="4693920"/>
                  </a:cubicBezTo>
                  <a:lnTo>
                    <a:pt x="4870450" y="4693920"/>
                  </a:lnTo>
                  <a:cubicBezTo>
                    <a:pt x="4880610" y="4693920"/>
                    <a:pt x="4889500" y="4685030"/>
                    <a:pt x="4889500" y="4674870"/>
                  </a:cubicBezTo>
                  <a:lnTo>
                    <a:pt x="4889500" y="20320"/>
                  </a:lnTo>
                  <a:cubicBezTo>
                    <a:pt x="4889500" y="8890"/>
                    <a:pt x="4881880" y="0"/>
                    <a:pt x="4870450" y="0"/>
                  </a:cubicBezTo>
                  <a:close/>
                </a:path>
              </a:pathLst>
            </a:custGeom>
            <a:blipFill>
              <a:blip r:embed="rId8"/>
              <a:stretch>
                <a:fillRect t="-2083" b="-2083"/>
              </a:stretch>
            </a:blipFill>
          </p:spPr>
        </p:sp>
        <p:sp>
          <p:nvSpPr>
            <p:cNvPr id="12" name="Freeform 12"/>
            <p:cNvSpPr/>
            <p:nvPr/>
          </p:nvSpPr>
          <p:spPr>
            <a:xfrm>
              <a:off x="1270" y="6350"/>
              <a:ext cx="5457190" cy="6342380"/>
            </a:xfrm>
            <a:custGeom>
              <a:avLst/>
              <a:gdLst/>
              <a:ahLst/>
              <a:cxnLst/>
              <a:rect l="l" t="t" r="r" b="b"/>
              <a:pathLst>
                <a:path w="5457190" h="6342380">
                  <a:moveTo>
                    <a:pt x="5137150" y="302260"/>
                  </a:moveTo>
                  <a:cubicBezTo>
                    <a:pt x="5137150" y="302260"/>
                    <a:pt x="5133340" y="290830"/>
                    <a:pt x="5119370" y="289560"/>
                  </a:cubicBezTo>
                  <a:lnTo>
                    <a:pt x="248920" y="289560"/>
                  </a:lnTo>
                  <a:cubicBezTo>
                    <a:pt x="240030" y="289560"/>
                    <a:pt x="228600" y="293370"/>
                    <a:pt x="228600" y="303530"/>
                  </a:cubicBezTo>
                  <a:lnTo>
                    <a:pt x="232410" y="312420"/>
                  </a:lnTo>
                  <a:cubicBezTo>
                    <a:pt x="236220" y="307340"/>
                    <a:pt x="242570" y="304800"/>
                    <a:pt x="248920" y="304800"/>
                  </a:cubicBezTo>
                  <a:lnTo>
                    <a:pt x="5123180" y="304800"/>
                  </a:lnTo>
                  <a:lnTo>
                    <a:pt x="5123180" y="4966970"/>
                  </a:lnTo>
                  <a:cubicBezTo>
                    <a:pt x="5123180" y="4973320"/>
                    <a:pt x="5120640" y="4979670"/>
                    <a:pt x="5115560" y="4983480"/>
                  </a:cubicBezTo>
                  <a:lnTo>
                    <a:pt x="5120640" y="4983480"/>
                  </a:lnTo>
                  <a:cubicBezTo>
                    <a:pt x="5129530" y="4983480"/>
                    <a:pt x="5137150" y="4975860"/>
                    <a:pt x="5137150" y="4966970"/>
                  </a:cubicBezTo>
                  <a:lnTo>
                    <a:pt x="5137150" y="302260"/>
                  </a:lnTo>
                  <a:close/>
                  <a:moveTo>
                    <a:pt x="5438140" y="6324600"/>
                  </a:moveTo>
                  <a:lnTo>
                    <a:pt x="20320" y="6324600"/>
                  </a:lnTo>
                  <a:lnTo>
                    <a:pt x="20320" y="12700"/>
                  </a:lnTo>
                  <a:lnTo>
                    <a:pt x="6350" y="0"/>
                  </a:lnTo>
                  <a:lnTo>
                    <a:pt x="5080" y="0"/>
                  </a:lnTo>
                  <a:cubicBezTo>
                    <a:pt x="2540" y="3810"/>
                    <a:pt x="0" y="7620"/>
                    <a:pt x="0" y="12700"/>
                  </a:cubicBezTo>
                  <a:lnTo>
                    <a:pt x="0" y="6323330"/>
                  </a:lnTo>
                  <a:cubicBezTo>
                    <a:pt x="0" y="6334760"/>
                    <a:pt x="8890" y="6342380"/>
                    <a:pt x="19050" y="6342380"/>
                  </a:cubicBezTo>
                  <a:lnTo>
                    <a:pt x="5444490" y="6342380"/>
                  </a:lnTo>
                  <a:cubicBezTo>
                    <a:pt x="5449570" y="6342380"/>
                    <a:pt x="5453380" y="6341110"/>
                    <a:pt x="5457190" y="6337300"/>
                  </a:cubicBezTo>
                  <a:lnTo>
                    <a:pt x="5438140" y="6324600"/>
                  </a:lnTo>
                  <a:close/>
                </a:path>
              </a:pathLst>
            </a:custGeom>
            <a:solidFill>
              <a:srgbClr val="3C3333"/>
            </a:solidFill>
          </p:spPr>
        </p:sp>
        <p:sp>
          <p:nvSpPr>
            <p:cNvPr id="13" name="Freeform 13"/>
            <p:cNvSpPr/>
            <p:nvPr/>
          </p:nvSpPr>
          <p:spPr>
            <a:xfrm>
              <a:off x="7620" y="0"/>
              <a:ext cx="5458460" cy="6344920"/>
            </a:xfrm>
            <a:custGeom>
              <a:avLst/>
              <a:gdLst/>
              <a:ahLst/>
              <a:cxnLst/>
              <a:rect l="l" t="t" r="r" b="b"/>
              <a:pathLst>
                <a:path w="5458460" h="6344920">
                  <a:moveTo>
                    <a:pt x="5125720" y="4987290"/>
                  </a:moveTo>
                  <a:cubicBezTo>
                    <a:pt x="5121910" y="4992370"/>
                    <a:pt x="5116830" y="4994910"/>
                    <a:pt x="5110480" y="4994910"/>
                  </a:cubicBezTo>
                  <a:lnTo>
                    <a:pt x="243840" y="4994910"/>
                  </a:lnTo>
                  <a:cubicBezTo>
                    <a:pt x="237490" y="4994910"/>
                    <a:pt x="231140" y="4992370"/>
                    <a:pt x="227330" y="4986020"/>
                  </a:cubicBezTo>
                  <a:cubicBezTo>
                    <a:pt x="222250" y="4982210"/>
                    <a:pt x="219710" y="4977130"/>
                    <a:pt x="219710" y="4970780"/>
                  </a:cubicBezTo>
                  <a:lnTo>
                    <a:pt x="219710" y="314960"/>
                  </a:lnTo>
                  <a:cubicBezTo>
                    <a:pt x="219710" y="309880"/>
                    <a:pt x="222250" y="304800"/>
                    <a:pt x="226060" y="300990"/>
                  </a:cubicBezTo>
                  <a:lnTo>
                    <a:pt x="240030" y="311150"/>
                  </a:lnTo>
                  <a:lnTo>
                    <a:pt x="240030" y="4975860"/>
                  </a:lnTo>
                  <a:lnTo>
                    <a:pt x="5110480" y="4975860"/>
                  </a:lnTo>
                  <a:cubicBezTo>
                    <a:pt x="5113020" y="4975860"/>
                    <a:pt x="5115560" y="4974590"/>
                    <a:pt x="5116830" y="4974590"/>
                  </a:cubicBezTo>
                  <a:lnTo>
                    <a:pt x="5125720" y="4987290"/>
                  </a:lnTo>
                  <a:close/>
                  <a:moveTo>
                    <a:pt x="5458460" y="19050"/>
                  </a:moveTo>
                  <a:lnTo>
                    <a:pt x="5458460" y="6330950"/>
                  </a:lnTo>
                  <a:cubicBezTo>
                    <a:pt x="5458460" y="6336030"/>
                    <a:pt x="5455920" y="6341110"/>
                    <a:pt x="5450840" y="6344920"/>
                  </a:cubicBezTo>
                  <a:lnTo>
                    <a:pt x="5429250" y="6329680"/>
                  </a:lnTo>
                  <a:lnTo>
                    <a:pt x="5429250" y="20320"/>
                  </a:lnTo>
                  <a:lnTo>
                    <a:pt x="13970" y="20320"/>
                  </a:lnTo>
                  <a:lnTo>
                    <a:pt x="0" y="7620"/>
                  </a:lnTo>
                  <a:cubicBezTo>
                    <a:pt x="3810" y="2540"/>
                    <a:pt x="8890" y="0"/>
                    <a:pt x="15240" y="0"/>
                  </a:cubicBezTo>
                  <a:lnTo>
                    <a:pt x="5439410" y="0"/>
                  </a:lnTo>
                  <a:cubicBezTo>
                    <a:pt x="5449570" y="0"/>
                    <a:pt x="5458460" y="8890"/>
                    <a:pt x="5458460" y="19050"/>
                  </a:cubicBezTo>
                  <a:close/>
                  <a:moveTo>
                    <a:pt x="5455920" y="30480"/>
                  </a:moveTo>
                  <a:cubicBezTo>
                    <a:pt x="5453380" y="26670"/>
                    <a:pt x="5450840" y="24130"/>
                    <a:pt x="5447030" y="21590"/>
                  </a:cubicBezTo>
                  <a:lnTo>
                    <a:pt x="5455920" y="30480"/>
                  </a:lnTo>
                  <a:close/>
                </a:path>
              </a:pathLst>
            </a:custGeom>
            <a:solidFill>
              <a:srgbClr val="FFFFFF"/>
            </a:solidFill>
          </p:spPr>
        </p:sp>
      </p:grpSp>
      <p:grpSp>
        <p:nvGrpSpPr>
          <p:cNvPr id="14" name="Group 14"/>
          <p:cNvGrpSpPr/>
          <p:nvPr/>
        </p:nvGrpSpPr>
        <p:grpSpPr>
          <a:xfrm>
            <a:off x="7995812" y="3787389"/>
            <a:ext cx="2810096" cy="450647"/>
            <a:chOff x="0" y="0"/>
            <a:chExt cx="4640499" cy="744183"/>
          </a:xfrm>
        </p:grpSpPr>
        <p:sp>
          <p:nvSpPr>
            <p:cNvPr id="15" name="Freeform 15"/>
            <p:cNvSpPr/>
            <p:nvPr/>
          </p:nvSpPr>
          <p:spPr>
            <a:xfrm>
              <a:off x="55409" y="48643"/>
              <a:ext cx="4529465" cy="647210"/>
            </a:xfrm>
            <a:custGeom>
              <a:avLst/>
              <a:gdLst/>
              <a:ahLst/>
              <a:cxnLst/>
              <a:rect l="l" t="t" r="r" b="b"/>
              <a:pathLst>
                <a:path w="4529465" h="647210">
                  <a:moveTo>
                    <a:pt x="0" y="234984"/>
                  </a:moveTo>
                  <a:cubicBezTo>
                    <a:pt x="470976" y="130987"/>
                    <a:pt x="746636" y="86417"/>
                    <a:pt x="962730" y="58055"/>
                  </a:cubicBezTo>
                  <a:cubicBezTo>
                    <a:pt x="1166358" y="33744"/>
                    <a:pt x="1349208" y="13485"/>
                    <a:pt x="1556991" y="5381"/>
                  </a:cubicBezTo>
                  <a:cubicBezTo>
                    <a:pt x="1784168" y="-4073"/>
                    <a:pt x="2052901" y="-21"/>
                    <a:pt x="2274537" y="9433"/>
                  </a:cubicBezTo>
                  <a:cubicBezTo>
                    <a:pt x="2467083" y="17537"/>
                    <a:pt x="2640236" y="33744"/>
                    <a:pt x="2812004" y="51302"/>
                  </a:cubicBezTo>
                  <a:cubicBezTo>
                    <a:pt x="2974075" y="67509"/>
                    <a:pt x="3100130" y="78314"/>
                    <a:pt x="3278824" y="110728"/>
                  </a:cubicBezTo>
                  <a:cubicBezTo>
                    <a:pt x="3525394" y="153948"/>
                    <a:pt x="3967280" y="257944"/>
                    <a:pt x="4148745" y="307916"/>
                  </a:cubicBezTo>
                  <a:cubicBezTo>
                    <a:pt x="4234629" y="329526"/>
                    <a:pt x="4273415" y="341682"/>
                    <a:pt x="4332979" y="364642"/>
                  </a:cubicBezTo>
                  <a:cubicBezTo>
                    <a:pt x="4392544" y="388953"/>
                    <a:pt x="4478428" y="415965"/>
                    <a:pt x="4507518" y="449730"/>
                  </a:cubicBezTo>
                  <a:cubicBezTo>
                    <a:pt x="4525526" y="468638"/>
                    <a:pt x="4532452" y="494300"/>
                    <a:pt x="4528296" y="514559"/>
                  </a:cubicBezTo>
                  <a:cubicBezTo>
                    <a:pt x="4525526" y="534818"/>
                    <a:pt x="4507518" y="557778"/>
                    <a:pt x="4485354" y="569934"/>
                  </a:cubicBezTo>
                  <a:cubicBezTo>
                    <a:pt x="4450723" y="586141"/>
                    <a:pt x="4403626" y="573985"/>
                    <a:pt x="4321897" y="569934"/>
                  </a:cubicBezTo>
                  <a:cubicBezTo>
                    <a:pt x="4058705" y="556428"/>
                    <a:pt x="3133376" y="433523"/>
                    <a:pt x="2676252" y="405160"/>
                  </a:cubicBezTo>
                  <a:cubicBezTo>
                    <a:pt x="2352110" y="384901"/>
                    <a:pt x="2047361" y="382200"/>
                    <a:pt x="1840962" y="384901"/>
                  </a:cubicBezTo>
                  <a:cubicBezTo>
                    <a:pt x="1719062" y="386252"/>
                    <a:pt x="1656727" y="390303"/>
                    <a:pt x="1550065" y="398407"/>
                  </a:cubicBezTo>
                  <a:cubicBezTo>
                    <a:pt x="1417084" y="409212"/>
                    <a:pt x="1270250" y="422718"/>
                    <a:pt x="1104023" y="448379"/>
                  </a:cubicBezTo>
                  <a:cubicBezTo>
                    <a:pt x="887928" y="480794"/>
                    <a:pt x="466820" y="609101"/>
                    <a:pt x="369855" y="592894"/>
                  </a:cubicBezTo>
                  <a:cubicBezTo>
                    <a:pt x="343535" y="588842"/>
                    <a:pt x="332454" y="580738"/>
                    <a:pt x="322757" y="567232"/>
                  </a:cubicBezTo>
                  <a:cubicBezTo>
                    <a:pt x="311675" y="555077"/>
                    <a:pt x="304749" y="533467"/>
                    <a:pt x="304749" y="517260"/>
                  </a:cubicBezTo>
                  <a:cubicBezTo>
                    <a:pt x="304749" y="505105"/>
                    <a:pt x="307520" y="494300"/>
                    <a:pt x="314446" y="483495"/>
                  </a:cubicBezTo>
                  <a:cubicBezTo>
                    <a:pt x="322757" y="471340"/>
                    <a:pt x="332454" y="459184"/>
                    <a:pt x="356002" y="449730"/>
                  </a:cubicBezTo>
                  <a:cubicBezTo>
                    <a:pt x="421108" y="422718"/>
                    <a:pt x="624736" y="409212"/>
                    <a:pt x="766029" y="398407"/>
                  </a:cubicBezTo>
                  <a:cubicBezTo>
                    <a:pt x="914248" y="388953"/>
                    <a:pt x="1073548" y="386252"/>
                    <a:pt x="1227308" y="391654"/>
                  </a:cubicBezTo>
                  <a:cubicBezTo>
                    <a:pt x="1381068" y="395706"/>
                    <a:pt x="1537598" y="410562"/>
                    <a:pt x="1685817" y="428120"/>
                  </a:cubicBezTo>
                  <a:cubicBezTo>
                    <a:pt x="1827110" y="445678"/>
                    <a:pt x="2066754" y="444327"/>
                    <a:pt x="2095843" y="494300"/>
                  </a:cubicBezTo>
                  <a:cubicBezTo>
                    <a:pt x="2111081" y="519961"/>
                    <a:pt x="2066754" y="594245"/>
                    <a:pt x="2058442" y="594245"/>
                  </a:cubicBezTo>
                  <a:cubicBezTo>
                    <a:pt x="2048746" y="592894"/>
                    <a:pt x="2027967" y="506455"/>
                    <a:pt x="2041819" y="488897"/>
                  </a:cubicBezTo>
                  <a:cubicBezTo>
                    <a:pt x="2052901" y="474041"/>
                    <a:pt x="2093073" y="474041"/>
                    <a:pt x="2112466" y="480794"/>
                  </a:cubicBezTo>
                  <a:cubicBezTo>
                    <a:pt x="2129089" y="486196"/>
                    <a:pt x="2144326" y="501053"/>
                    <a:pt x="2152637" y="515910"/>
                  </a:cubicBezTo>
                  <a:cubicBezTo>
                    <a:pt x="2159564" y="529416"/>
                    <a:pt x="2162334" y="552376"/>
                    <a:pt x="2158178" y="567232"/>
                  </a:cubicBezTo>
                  <a:cubicBezTo>
                    <a:pt x="2154023" y="583440"/>
                    <a:pt x="2141556" y="600998"/>
                    <a:pt x="2127703" y="610452"/>
                  </a:cubicBezTo>
                  <a:cubicBezTo>
                    <a:pt x="2115236" y="619906"/>
                    <a:pt x="2094458" y="630711"/>
                    <a:pt x="2084762" y="623958"/>
                  </a:cubicBezTo>
                  <a:cubicBezTo>
                    <a:pt x="2066754" y="611802"/>
                    <a:pt x="2102769" y="487547"/>
                    <a:pt x="2084762" y="475391"/>
                  </a:cubicBezTo>
                  <a:cubicBezTo>
                    <a:pt x="2075065" y="468638"/>
                    <a:pt x="2041819" y="487547"/>
                    <a:pt x="2041819" y="488897"/>
                  </a:cubicBezTo>
                  <a:cubicBezTo>
                    <a:pt x="2041819" y="490248"/>
                    <a:pt x="2091688" y="472690"/>
                    <a:pt x="2112466" y="480794"/>
                  </a:cubicBezTo>
                  <a:cubicBezTo>
                    <a:pt x="2131859" y="487547"/>
                    <a:pt x="2152637" y="515910"/>
                    <a:pt x="2158178" y="532117"/>
                  </a:cubicBezTo>
                  <a:cubicBezTo>
                    <a:pt x="2163719" y="544272"/>
                    <a:pt x="2162334" y="556428"/>
                    <a:pt x="2158178" y="567232"/>
                  </a:cubicBezTo>
                  <a:cubicBezTo>
                    <a:pt x="2154023" y="582089"/>
                    <a:pt x="2127703" y="610452"/>
                    <a:pt x="2127703" y="610452"/>
                  </a:cubicBezTo>
                  <a:cubicBezTo>
                    <a:pt x="2127703" y="611802"/>
                    <a:pt x="2188653" y="536169"/>
                    <a:pt x="2185883" y="533467"/>
                  </a:cubicBezTo>
                  <a:cubicBezTo>
                    <a:pt x="2183112" y="530766"/>
                    <a:pt x="2126318" y="623958"/>
                    <a:pt x="2070909" y="641516"/>
                  </a:cubicBezTo>
                  <a:cubicBezTo>
                    <a:pt x="1980870" y="668528"/>
                    <a:pt x="1795250" y="591543"/>
                    <a:pt x="1667809" y="575336"/>
                  </a:cubicBezTo>
                  <a:cubicBezTo>
                    <a:pt x="1551450" y="561830"/>
                    <a:pt x="1461411" y="551025"/>
                    <a:pt x="1336741" y="545623"/>
                  </a:cubicBezTo>
                  <a:cubicBezTo>
                    <a:pt x="1174670" y="537519"/>
                    <a:pt x="946108" y="536169"/>
                    <a:pt x="775725" y="546973"/>
                  </a:cubicBezTo>
                  <a:cubicBezTo>
                    <a:pt x="634432" y="556428"/>
                    <a:pt x="447427" y="594245"/>
                    <a:pt x="387862" y="594245"/>
                  </a:cubicBezTo>
                  <a:cubicBezTo>
                    <a:pt x="369855" y="594245"/>
                    <a:pt x="362928" y="594245"/>
                    <a:pt x="351847" y="588842"/>
                  </a:cubicBezTo>
                  <a:cubicBezTo>
                    <a:pt x="337994" y="582089"/>
                    <a:pt x="318601" y="568583"/>
                    <a:pt x="311675" y="552376"/>
                  </a:cubicBezTo>
                  <a:cubicBezTo>
                    <a:pt x="304749" y="534818"/>
                    <a:pt x="306134" y="501053"/>
                    <a:pt x="314446" y="483495"/>
                  </a:cubicBezTo>
                  <a:cubicBezTo>
                    <a:pt x="322757" y="468638"/>
                    <a:pt x="332454" y="461885"/>
                    <a:pt x="356002" y="449730"/>
                  </a:cubicBezTo>
                  <a:cubicBezTo>
                    <a:pt x="433575" y="411913"/>
                    <a:pt x="717546" y="363291"/>
                    <a:pt x="911477" y="330877"/>
                  </a:cubicBezTo>
                  <a:cubicBezTo>
                    <a:pt x="1122031" y="294410"/>
                    <a:pt x="1408772" y="261996"/>
                    <a:pt x="1573614" y="247139"/>
                  </a:cubicBezTo>
                  <a:cubicBezTo>
                    <a:pt x="1669194" y="239036"/>
                    <a:pt x="1701055" y="237685"/>
                    <a:pt x="1803561" y="237685"/>
                  </a:cubicBezTo>
                  <a:cubicBezTo>
                    <a:pt x="2011344" y="234984"/>
                    <a:pt x="2435223" y="241737"/>
                    <a:pt x="2739972" y="261996"/>
                  </a:cubicBezTo>
                  <a:cubicBezTo>
                    <a:pt x="3030869" y="280904"/>
                    <a:pt x="3377175" y="336279"/>
                    <a:pt x="3590499" y="353837"/>
                  </a:cubicBezTo>
                  <a:cubicBezTo>
                    <a:pt x="3717940" y="364642"/>
                    <a:pt x="3778890" y="361941"/>
                    <a:pt x="3898019" y="372745"/>
                  </a:cubicBezTo>
                  <a:cubicBezTo>
                    <a:pt x="4064246" y="386252"/>
                    <a:pt x="4425790" y="406511"/>
                    <a:pt x="4493665" y="437574"/>
                  </a:cubicBezTo>
                  <a:cubicBezTo>
                    <a:pt x="4510288" y="445678"/>
                    <a:pt x="4513058" y="452431"/>
                    <a:pt x="4518599" y="463236"/>
                  </a:cubicBezTo>
                  <a:cubicBezTo>
                    <a:pt x="4525525" y="476742"/>
                    <a:pt x="4531066" y="498352"/>
                    <a:pt x="4528296" y="514559"/>
                  </a:cubicBezTo>
                  <a:cubicBezTo>
                    <a:pt x="4525525" y="530766"/>
                    <a:pt x="4514443" y="549675"/>
                    <a:pt x="4500591" y="560480"/>
                  </a:cubicBezTo>
                  <a:cubicBezTo>
                    <a:pt x="4488125" y="569934"/>
                    <a:pt x="4474272" y="576687"/>
                    <a:pt x="4449338" y="575336"/>
                  </a:cubicBezTo>
                  <a:cubicBezTo>
                    <a:pt x="4388388" y="573986"/>
                    <a:pt x="4266489" y="498352"/>
                    <a:pt x="4133507" y="457834"/>
                  </a:cubicBezTo>
                  <a:cubicBezTo>
                    <a:pt x="3914642" y="393005"/>
                    <a:pt x="3483837" y="298462"/>
                    <a:pt x="3251120" y="256594"/>
                  </a:cubicBezTo>
                  <a:cubicBezTo>
                    <a:pt x="3101516" y="229581"/>
                    <a:pt x="3022558" y="222828"/>
                    <a:pt x="2879880" y="207972"/>
                  </a:cubicBezTo>
                  <a:cubicBezTo>
                    <a:pt x="2691489" y="187713"/>
                    <a:pt x="2435223" y="162051"/>
                    <a:pt x="2213587" y="153948"/>
                  </a:cubicBezTo>
                  <a:cubicBezTo>
                    <a:pt x="1997492" y="144493"/>
                    <a:pt x="1775857" y="144493"/>
                    <a:pt x="1565303" y="153948"/>
                  </a:cubicBezTo>
                  <a:cubicBezTo>
                    <a:pt x="1365830" y="162051"/>
                    <a:pt x="1184366" y="180960"/>
                    <a:pt x="980738" y="206621"/>
                  </a:cubicBezTo>
                  <a:cubicBezTo>
                    <a:pt x="756332" y="234984"/>
                    <a:pt x="447427" y="284956"/>
                    <a:pt x="277045" y="320072"/>
                  </a:cubicBezTo>
                  <a:cubicBezTo>
                    <a:pt x="178694" y="340331"/>
                    <a:pt x="92810" y="401108"/>
                    <a:pt x="47097" y="378148"/>
                  </a:cubicBezTo>
                  <a:cubicBezTo>
                    <a:pt x="11082" y="357889"/>
                    <a:pt x="0" y="234984"/>
                    <a:pt x="0" y="234984"/>
                  </a:cubicBezTo>
                </a:path>
              </a:pathLst>
            </a:custGeom>
            <a:solidFill>
              <a:srgbClr val="FFC700"/>
            </a:solidFill>
            <a:ln cap="sq">
              <a:noFill/>
              <a:prstDash val="solid"/>
              <a:miter/>
            </a:ln>
          </p:spPr>
        </p:sp>
      </p:grpSp>
      <p:sp>
        <p:nvSpPr>
          <p:cNvPr id="16" name="TextBox 16"/>
          <p:cNvSpPr txBox="1"/>
          <p:nvPr/>
        </p:nvSpPr>
        <p:spPr>
          <a:xfrm>
            <a:off x="6458846" y="3070068"/>
            <a:ext cx="5370307" cy="380207"/>
          </a:xfrm>
          <a:prstGeom prst="rect">
            <a:avLst/>
          </a:prstGeom>
        </p:spPr>
        <p:txBody>
          <a:bodyPr lIns="0" tIns="0" rIns="0" bIns="0" rtlCol="0" anchor="t">
            <a:spAutoFit/>
          </a:bodyPr>
          <a:lstStyle/>
          <a:p>
            <a:pPr algn="ctr">
              <a:lnSpc>
                <a:spcPts val="3170"/>
              </a:lnSpc>
            </a:pPr>
            <a:r>
              <a:rPr lang="en-US" sz="2348" b="1">
                <a:solidFill>
                  <a:srgbClr val="FFFFFF"/>
                </a:solidFill>
                <a:latin typeface="Canva Sans Bold"/>
                <a:ea typeface="Canva Sans Bold"/>
                <a:cs typeface="Canva Sans Bold"/>
                <a:sym typeface="Canva Sans Bold"/>
              </a:rPr>
              <a:t>POWER BI PROJECT PRESENATION</a:t>
            </a:r>
          </a:p>
        </p:txBody>
      </p:sp>
      <p:sp>
        <p:nvSpPr>
          <p:cNvPr id="17" name="Freeform 17"/>
          <p:cNvSpPr/>
          <p:nvPr/>
        </p:nvSpPr>
        <p:spPr>
          <a:xfrm rot="-3026566">
            <a:off x="12677608" y="4033209"/>
            <a:ext cx="1706903" cy="1083883"/>
          </a:xfrm>
          <a:custGeom>
            <a:avLst/>
            <a:gdLst/>
            <a:ahLst/>
            <a:cxnLst/>
            <a:rect l="l" t="t" r="r" b="b"/>
            <a:pathLst>
              <a:path w="1706903" h="1083883">
                <a:moveTo>
                  <a:pt x="0" y="0"/>
                </a:moveTo>
                <a:lnTo>
                  <a:pt x="1706903" y="0"/>
                </a:lnTo>
                <a:lnTo>
                  <a:pt x="1706903" y="1083883"/>
                </a:lnTo>
                <a:lnTo>
                  <a:pt x="0" y="1083883"/>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8" name="Freeform 18"/>
          <p:cNvSpPr/>
          <p:nvPr/>
        </p:nvSpPr>
        <p:spPr>
          <a:xfrm rot="-667622">
            <a:off x="16080789" y="411982"/>
            <a:ext cx="726919" cy="709738"/>
          </a:xfrm>
          <a:custGeom>
            <a:avLst/>
            <a:gdLst/>
            <a:ahLst/>
            <a:cxnLst/>
            <a:rect l="l" t="t" r="r" b="b"/>
            <a:pathLst>
              <a:path w="726919" h="709738">
                <a:moveTo>
                  <a:pt x="0" y="0"/>
                </a:moveTo>
                <a:lnTo>
                  <a:pt x="726920" y="0"/>
                </a:lnTo>
                <a:lnTo>
                  <a:pt x="726920" y="709738"/>
                </a:lnTo>
                <a:lnTo>
                  <a:pt x="0" y="709738"/>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19" name="TextBox 19"/>
          <p:cNvSpPr txBox="1"/>
          <p:nvPr/>
        </p:nvSpPr>
        <p:spPr>
          <a:xfrm rot="673038">
            <a:off x="13871533" y="7788130"/>
            <a:ext cx="2696564" cy="357713"/>
          </a:xfrm>
          <a:prstGeom prst="rect">
            <a:avLst/>
          </a:prstGeom>
        </p:spPr>
        <p:txBody>
          <a:bodyPr lIns="0" tIns="0" rIns="0" bIns="0" rtlCol="0" anchor="t">
            <a:spAutoFit/>
          </a:bodyPr>
          <a:lstStyle/>
          <a:p>
            <a:pPr marL="0" lvl="0" indent="0" algn="ctr">
              <a:lnSpc>
                <a:spcPts val="2638"/>
              </a:lnSpc>
              <a:spcBef>
                <a:spcPct val="0"/>
              </a:spcBef>
            </a:pPr>
            <a:r>
              <a:rPr lang="en-US" sz="2110">
                <a:solidFill>
                  <a:srgbClr val="000000"/>
                </a:solidFill>
                <a:latin typeface="Bryndan Write"/>
                <a:ea typeface="Bryndan Write"/>
                <a:cs typeface="Bryndan Write"/>
                <a:sym typeface="Bryndan Write"/>
              </a:rPr>
              <a:t>lAZAR ARUN KUMAR B</a:t>
            </a:r>
          </a:p>
        </p:txBody>
      </p:sp>
      <p:sp>
        <p:nvSpPr>
          <p:cNvPr id="20" name="Freeform 20"/>
          <p:cNvSpPr/>
          <p:nvPr/>
        </p:nvSpPr>
        <p:spPr>
          <a:xfrm rot="7802778">
            <a:off x="16422114" y="8807829"/>
            <a:ext cx="1495563" cy="949682"/>
          </a:xfrm>
          <a:custGeom>
            <a:avLst/>
            <a:gdLst/>
            <a:ahLst/>
            <a:cxnLst/>
            <a:rect l="l" t="t" r="r" b="b"/>
            <a:pathLst>
              <a:path w="1495563" h="949682">
                <a:moveTo>
                  <a:pt x="0" y="0"/>
                </a:moveTo>
                <a:lnTo>
                  <a:pt x="1495563" y="0"/>
                </a:lnTo>
                <a:lnTo>
                  <a:pt x="1495563" y="949682"/>
                </a:lnTo>
                <a:lnTo>
                  <a:pt x="0" y="949682"/>
                </a:lnTo>
                <a:lnTo>
                  <a:pt x="0" y="0"/>
                </a:lnTo>
                <a:close/>
              </a:path>
            </a:pathLst>
          </a:custGeom>
          <a:blipFill>
            <a:blip>
              <a:extLst>
                <a:ext uri="{96DAC541-7B7A-43D3-8B79-37D633B846F1}">
                  <asvg:svgBlip xmlns:asvg="http://schemas.microsoft.com/office/drawing/2016/SVG/main" r:embed="rId11"/>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32353" r="32353"/>
            <a:stretch>
              <a:fillRect/>
            </a:stretch>
          </p:blipFill>
          <p:spPr>
            <a:xfrm>
              <a:off x="0" y="0"/>
              <a:ext cx="7370417" cy="13913357"/>
            </a:xfrm>
            <a:prstGeom prst="rect">
              <a:avLst/>
            </a:prstGeom>
          </p:spPr>
        </p:pic>
      </p:grpSp>
      <p:sp>
        <p:nvSpPr>
          <p:cNvPr id="5" name="TextBox 5"/>
          <p:cNvSpPr txBox="1"/>
          <p:nvPr/>
        </p:nvSpPr>
        <p:spPr>
          <a:xfrm>
            <a:off x="6334654" y="279950"/>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Introduction</a:t>
            </a:r>
          </a:p>
        </p:txBody>
      </p:sp>
      <p:sp>
        <p:nvSpPr>
          <p:cNvPr id="6" name="TextBox 6"/>
          <p:cNvSpPr txBox="1"/>
          <p:nvPr/>
        </p:nvSpPr>
        <p:spPr>
          <a:xfrm>
            <a:off x="6309534" y="2072735"/>
            <a:ext cx="10064221" cy="5566510"/>
          </a:xfrm>
          <a:prstGeom prst="rect">
            <a:avLst/>
          </a:prstGeom>
        </p:spPr>
        <p:txBody>
          <a:bodyPr lIns="0" tIns="0" rIns="0" bIns="0" rtlCol="0" anchor="t">
            <a:spAutoFit/>
          </a:bodyPr>
          <a:lstStyle/>
          <a:p>
            <a:pPr algn="l">
              <a:lnSpc>
                <a:spcPts val="2972"/>
              </a:lnSpc>
            </a:pPr>
            <a:r>
              <a:rPr lang="en-US" sz="2123">
                <a:solidFill>
                  <a:srgbClr val="FFFFFF"/>
                </a:solidFill>
                <a:latin typeface="Now"/>
                <a:ea typeface="Now"/>
                <a:cs typeface="Now"/>
                <a:sym typeface="Now"/>
              </a:rPr>
              <a:t>Business Insights 360 is a Power BI project focused on understanding business performance through data analytics.</a:t>
            </a:r>
          </a:p>
          <a:p>
            <a:pPr algn="l">
              <a:lnSpc>
                <a:spcPts val="2972"/>
              </a:lnSpc>
            </a:pPr>
            <a:endParaRPr lang="en-US" sz="2123">
              <a:solidFill>
                <a:srgbClr val="FFFFFF"/>
              </a:solidFill>
              <a:latin typeface="Now"/>
              <a:ea typeface="Now"/>
              <a:cs typeface="Now"/>
              <a:sym typeface="Now"/>
            </a:endParaRPr>
          </a:p>
          <a:p>
            <a:pPr algn="l">
              <a:lnSpc>
                <a:spcPts val="2972"/>
              </a:lnSpc>
            </a:pPr>
            <a:r>
              <a:rPr lang="en-US" sz="2123">
                <a:solidFill>
                  <a:srgbClr val="FFFFFF"/>
                </a:solidFill>
                <a:latin typeface="Now"/>
                <a:ea typeface="Now"/>
                <a:cs typeface="Now"/>
                <a:sym typeface="Now"/>
              </a:rPr>
              <a:t>In this project, I learned how to transform raw data into meaningful insights using SQL, Excel, Power Query, Power BI and DAX. The project covers five major business areas: Finance, Sales, Marketing, Supply Chain and Executive.</a:t>
            </a:r>
          </a:p>
          <a:p>
            <a:pPr algn="l">
              <a:lnSpc>
                <a:spcPts val="2972"/>
              </a:lnSpc>
            </a:pPr>
            <a:endParaRPr lang="en-US" sz="2123">
              <a:solidFill>
                <a:srgbClr val="FFFFFF"/>
              </a:solidFill>
              <a:latin typeface="Now"/>
              <a:ea typeface="Now"/>
              <a:cs typeface="Now"/>
              <a:sym typeface="Now"/>
            </a:endParaRPr>
          </a:p>
          <a:p>
            <a:pPr algn="l">
              <a:lnSpc>
                <a:spcPts val="2972"/>
              </a:lnSpc>
            </a:pPr>
            <a:r>
              <a:rPr lang="en-US" sz="2123">
                <a:solidFill>
                  <a:srgbClr val="FFFFFF"/>
                </a:solidFill>
                <a:latin typeface="Now"/>
                <a:ea typeface="Now"/>
                <a:cs typeface="Now"/>
                <a:sym typeface="Now"/>
              </a:rPr>
              <a:t>The main objective is to bring business insights together in interactive dashboards that help users understand performance, identify trends and make data-driven decisions.</a:t>
            </a:r>
          </a:p>
          <a:p>
            <a:pPr algn="l">
              <a:lnSpc>
                <a:spcPts val="2972"/>
              </a:lnSpc>
            </a:pPr>
            <a:endParaRPr lang="en-US" sz="2123">
              <a:solidFill>
                <a:srgbClr val="FFFFFF"/>
              </a:solidFill>
              <a:latin typeface="Now"/>
              <a:ea typeface="Now"/>
              <a:cs typeface="Now"/>
              <a:sym typeface="Now"/>
            </a:endParaRPr>
          </a:p>
          <a:p>
            <a:pPr algn="l">
              <a:lnSpc>
                <a:spcPts val="2972"/>
              </a:lnSpc>
            </a:pPr>
            <a:r>
              <a:rPr lang="en-US" sz="2123">
                <a:solidFill>
                  <a:srgbClr val="FFFFFF"/>
                </a:solidFill>
                <a:latin typeface="Now"/>
                <a:ea typeface="Now"/>
                <a:cs typeface="Now"/>
                <a:sym typeface="Now"/>
              </a:rPr>
              <a:t>Through this project, I gained practical knowledge of data preparation, data modeling, DAX calculations, dashboard development and business analysis.</a:t>
            </a:r>
          </a:p>
          <a:p>
            <a:pPr algn="l">
              <a:lnSpc>
                <a:spcPts val="2972"/>
              </a:lnSpc>
            </a:pPr>
            <a:endParaRPr lang="en-US" sz="2123">
              <a:solidFill>
                <a:srgbClr val="FFFFFF"/>
              </a:solidFill>
              <a:latin typeface="Now"/>
              <a:ea typeface="Now"/>
              <a:cs typeface="Now"/>
              <a:sym typeface="Now"/>
            </a:endParaRPr>
          </a:p>
        </p:txBody>
      </p:sp>
      <p:sp>
        <p:nvSpPr>
          <p:cNvPr id="7" name="Freeform 7"/>
          <p:cNvSpPr/>
          <p:nvPr/>
        </p:nvSpPr>
        <p:spPr>
          <a:xfrm rot="1353809">
            <a:off x="10916840" y="159823"/>
            <a:ext cx="1638591" cy="1701774"/>
          </a:xfrm>
          <a:custGeom>
            <a:avLst/>
            <a:gdLst/>
            <a:ahLst/>
            <a:cxnLst/>
            <a:rect l="l" t="t" r="r" b="b"/>
            <a:pathLst>
              <a:path w="1638591" h="1701774">
                <a:moveTo>
                  <a:pt x="0" y="0"/>
                </a:moveTo>
                <a:lnTo>
                  <a:pt x="1638591" y="0"/>
                </a:lnTo>
                <a:lnTo>
                  <a:pt x="1638591" y="1701774"/>
                </a:lnTo>
                <a:lnTo>
                  <a:pt x="0" y="170177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8" name="Freeform 8"/>
          <p:cNvSpPr/>
          <p:nvPr/>
        </p:nvSpPr>
        <p:spPr>
          <a:xfrm rot="763488">
            <a:off x="4200371" y="941233"/>
            <a:ext cx="1627739" cy="1550791"/>
          </a:xfrm>
          <a:custGeom>
            <a:avLst/>
            <a:gdLst/>
            <a:ahLst/>
            <a:cxnLst/>
            <a:rect l="l" t="t" r="r" b="b"/>
            <a:pathLst>
              <a:path w="1627739" h="1550791">
                <a:moveTo>
                  <a:pt x="0" y="0"/>
                </a:moveTo>
                <a:lnTo>
                  <a:pt x="1627739" y="0"/>
                </a:lnTo>
                <a:lnTo>
                  <a:pt x="1627739" y="1550791"/>
                </a:lnTo>
                <a:lnTo>
                  <a:pt x="0" y="155079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Freeform 9"/>
          <p:cNvSpPr/>
          <p:nvPr/>
        </p:nvSpPr>
        <p:spPr>
          <a:xfrm>
            <a:off x="4709025" y="7639245"/>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grpSp>
        <p:nvGrpSpPr>
          <p:cNvPr id="3" name="Group 3"/>
          <p:cNvGrpSpPr/>
          <p:nvPr/>
        </p:nvGrpSpPr>
        <p:grpSpPr>
          <a:xfrm>
            <a:off x="-81941" y="0"/>
            <a:ext cx="5527813" cy="10435018"/>
            <a:chOff x="0" y="0"/>
            <a:chExt cx="7370417" cy="13913357"/>
          </a:xfrm>
        </p:grpSpPr>
        <p:pic>
          <p:nvPicPr>
            <p:cNvPr id="4" name="Picture 4"/>
            <p:cNvPicPr>
              <a:picLocks noChangeAspect="1"/>
            </p:cNvPicPr>
            <p:nvPr/>
          </p:nvPicPr>
          <p:blipFill>
            <a:blip r:embed="rId3"/>
            <a:srcRect l="16181" r="48502"/>
            <a:stretch>
              <a:fillRect/>
            </a:stretch>
          </p:blipFill>
          <p:spPr>
            <a:xfrm>
              <a:off x="0" y="0"/>
              <a:ext cx="7370417" cy="13913357"/>
            </a:xfrm>
            <a:prstGeom prst="rect">
              <a:avLst/>
            </a:prstGeom>
          </p:spPr>
        </p:pic>
      </p:grpSp>
      <p:sp>
        <p:nvSpPr>
          <p:cNvPr id="5" name="TextBox 5"/>
          <p:cNvSpPr txBox="1"/>
          <p:nvPr/>
        </p:nvSpPr>
        <p:spPr>
          <a:xfrm>
            <a:off x="6344524" y="2809772"/>
            <a:ext cx="10914776" cy="4919811"/>
          </a:xfrm>
          <a:prstGeom prst="rect">
            <a:avLst/>
          </a:prstGeom>
        </p:spPr>
        <p:txBody>
          <a:bodyPr lIns="0" tIns="0" rIns="0" bIns="0" rtlCol="0" anchor="t">
            <a:spAutoFit/>
          </a:bodyPr>
          <a:lstStyle/>
          <a:p>
            <a:pPr algn="l">
              <a:lnSpc>
                <a:spcPts val="3027"/>
              </a:lnSpc>
            </a:pPr>
            <a:r>
              <a:rPr lang="en-US" sz="2162">
                <a:solidFill>
                  <a:srgbClr val="FFFFFF"/>
                </a:solidFill>
                <a:latin typeface="Now"/>
                <a:ea typeface="Now"/>
                <a:cs typeface="Now"/>
                <a:sym typeface="Now"/>
              </a:rPr>
              <a:t>Business Insights 360 is a business intelligence project based on AtliQ Hardware, a consumer electronics company. The project focuses on analyzing business data across five departments: Finance, Sales, Marketing, Supply Chain and Executive.</a:t>
            </a:r>
          </a:p>
          <a:p>
            <a:pPr algn="l">
              <a:lnSpc>
                <a:spcPts val="3027"/>
              </a:lnSpc>
            </a:pPr>
            <a:endParaRPr lang="en-US" sz="2162">
              <a:solidFill>
                <a:srgbClr val="FFFFFF"/>
              </a:solidFill>
              <a:latin typeface="Now"/>
              <a:ea typeface="Now"/>
              <a:cs typeface="Now"/>
              <a:sym typeface="Now"/>
            </a:endParaRPr>
          </a:p>
          <a:p>
            <a:pPr algn="l">
              <a:lnSpc>
                <a:spcPts val="3027"/>
              </a:lnSpc>
            </a:pPr>
            <a:r>
              <a:rPr lang="en-US" sz="2162">
                <a:solidFill>
                  <a:srgbClr val="FFFFFF"/>
                </a:solidFill>
                <a:latin typeface="Now"/>
                <a:ea typeface="Now"/>
                <a:cs typeface="Now"/>
                <a:sym typeface="Now"/>
              </a:rPr>
              <a:t>Using SQL, Excel and Power BI, the data is prepared, transformed and analyzed to create interactive dashboards. These dashboards help track key performance indicators (KPIs), understand business trends, evaluate profitability and support data-driven decision-making.</a:t>
            </a:r>
          </a:p>
          <a:p>
            <a:pPr algn="l">
              <a:lnSpc>
                <a:spcPts val="3027"/>
              </a:lnSpc>
            </a:pPr>
            <a:endParaRPr lang="en-US" sz="2162">
              <a:solidFill>
                <a:srgbClr val="FFFFFF"/>
              </a:solidFill>
              <a:latin typeface="Now"/>
              <a:ea typeface="Now"/>
              <a:cs typeface="Now"/>
              <a:sym typeface="Now"/>
            </a:endParaRPr>
          </a:p>
          <a:p>
            <a:pPr algn="l">
              <a:lnSpc>
                <a:spcPts val="3027"/>
              </a:lnSpc>
            </a:pPr>
            <a:r>
              <a:rPr lang="en-US" sz="2162">
                <a:solidFill>
                  <a:srgbClr val="FFFFFF"/>
                </a:solidFill>
                <a:latin typeface="Now"/>
                <a:ea typeface="Now"/>
                <a:cs typeface="Now"/>
                <a:sym typeface="Now"/>
              </a:rPr>
              <a:t>The goal is to provide a consolidated view of business performance and help stakeholders make better business decisions.</a:t>
            </a:r>
          </a:p>
          <a:p>
            <a:pPr algn="l">
              <a:lnSpc>
                <a:spcPts val="3027"/>
              </a:lnSpc>
            </a:pPr>
            <a:endParaRPr lang="en-US" sz="2162">
              <a:solidFill>
                <a:srgbClr val="FFFFFF"/>
              </a:solidFill>
              <a:latin typeface="Now"/>
              <a:ea typeface="Now"/>
              <a:cs typeface="Now"/>
              <a:sym typeface="Now"/>
            </a:endParaRPr>
          </a:p>
          <a:p>
            <a:pPr algn="l">
              <a:lnSpc>
                <a:spcPts val="3027"/>
              </a:lnSpc>
            </a:pPr>
            <a:endParaRPr lang="en-US" sz="2162">
              <a:solidFill>
                <a:srgbClr val="FFFFFF"/>
              </a:solidFill>
              <a:latin typeface="Now"/>
              <a:ea typeface="Now"/>
              <a:cs typeface="Now"/>
              <a:sym typeface="Now"/>
            </a:endParaRPr>
          </a:p>
        </p:txBody>
      </p:sp>
      <p:sp>
        <p:nvSpPr>
          <p:cNvPr id="6" name="Freeform 6"/>
          <p:cNvSpPr/>
          <p:nvPr/>
        </p:nvSpPr>
        <p:spPr>
          <a:xfrm flipH="1">
            <a:off x="1575842" y="0"/>
            <a:ext cx="4947445" cy="1942997"/>
          </a:xfrm>
          <a:custGeom>
            <a:avLst/>
            <a:gdLst/>
            <a:ahLst/>
            <a:cxnLst/>
            <a:rect l="l" t="t" r="r" b="b"/>
            <a:pathLst>
              <a:path w="4947445" h="1942997">
                <a:moveTo>
                  <a:pt x="4947445" y="0"/>
                </a:moveTo>
                <a:lnTo>
                  <a:pt x="0" y="0"/>
                </a:lnTo>
                <a:lnTo>
                  <a:pt x="0" y="1942997"/>
                </a:lnTo>
                <a:lnTo>
                  <a:pt x="4947445" y="1942997"/>
                </a:lnTo>
                <a:lnTo>
                  <a:pt x="4947445"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5717653" y="8108592"/>
            <a:ext cx="3083294" cy="3083294"/>
          </a:xfrm>
          <a:custGeom>
            <a:avLst/>
            <a:gdLst/>
            <a:ahLst/>
            <a:cxnLst/>
            <a:rect l="l" t="t" r="r" b="b"/>
            <a:pathLst>
              <a:path w="3083294" h="3083294">
                <a:moveTo>
                  <a:pt x="0" y="0"/>
                </a:moveTo>
                <a:lnTo>
                  <a:pt x="3083294" y="0"/>
                </a:lnTo>
                <a:lnTo>
                  <a:pt x="3083294" y="3083294"/>
                </a:lnTo>
                <a:lnTo>
                  <a:pt x="0" y="30832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4049565" y="7639245"/>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11235652" y="7180224"/>
            <a:ext cx="4260068" cy="2039558"/>
          </a:xfrm>
          <a:custGeom>
            <a:avLst/>
            <a:gdLst/>
            <a:ahLst/>
            <a:cxnLst/>
            <a:rect l="l" t="t" r="r" b="b"/>
            <a:pathLst>
              <a:path w="4260068" h="2039558">
                <a:moveTo>
                  <a:pt x="0" y="0"/>
                </a:moveTo>
                <a:lnTo>
                  <a:pt x="4260067" y="0"/>
                </a:lnTo>
                <a:lnTo>
                  <a:pt x="4260067" y="2039558"/>
                </a:lnTo>
                <a:lnTo>
                  <a:pt x="0" y="2039558"/>
                </a:lnTo>
                <a:lnTo>
                  <a:pt x="0" y="0"/>
                </a:lnTo>
                <a:close/>
              </a:path>
            </a:pathLst>
          </a:custGeom>
          <a:blipFill>
            <a:blip r:embed="rId7"/>
            <a:stretch>
              <a:fillRect t="-8165" b="-8165"/>
            </a:stretch>
          </a:blipFill>
        </p:spPr>
      </p:sp>
      <p:sp>
        <p:nvSpPr>
          <p:cNvPr id="10" name="TextBox 10"/>
          <p:cNvSpPr txBox="1"/>
          <p:nvPr/>
        </p:nvSpPr>
        <p:spPr>
          <a:xfrm>
            <a:off x="6764968" y="1466747"/>
            <a:ext cx="9640627" cy="933450"/>
          </a:xfrm>
          <a:prstGeom prst="rect">
            <a:avLst/>
          </a:prstGeom>
        </p:spPr>
        <p:txBody>
          <a:bodyPr lIns="0" tIns="0" rIns="0" bIns="0" rtlCol="0" anchor="t">
            <a:spAutoFit/>
          </a:bodyPr>
          <a:lstStyle/>
          <a:p>
            <a:pPr algn="l">
              <a:lnSpc>
                <a:spcPts val="6600"/>
              </a:lnSpc>
            </a:pPr>
            <a:r>
              <a:rPr lang="en-US" sz="6000">
                <a:solidFill>
                  <a:srgbClr val="FFFFFF"/>
                </a:solidFill>
                <a:latin typeface="Bryndan Write"/>
                <a:ea typeface="Bryndan Write"/>
                <a:cs typeface="Bryndan Write"/>
                <a:sym typeface="Bryndan Write"/>
              </a:rPr>
              <a:t>Project overview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11853680" y="3239003"/>
            <a:ext cx="4368814" cy="6019297"/>
          </a:xfrm>
          <a:custGeom>
            <a:avLst/>
            <a:gdLst/>
            <a:ahLst/>
            <a:cxnLst/>
            <a:rect l="l" t="t" r="r" b="b"/>
            <a:pathLst>
              <a:path w="4368814" h="6019297">
                <a:moveTo>
                  <a:pt x="0" y="0"/>
                </a:moveTo>
                <a:lnTo>
                  <a:pt x="4368814" y="0"/>
                </a:lnTo>
                <a:lnTo>
                  <a:pt x="4368814" y="6019297"/>
                </a:lnTo>
                <a:lnTo>
                  <a:pt x="0" y="6019297"/>
                </a:lnTo>
                <a:lnTo>
                  <a:pt x="0" y="0"/>
                </a:lnTo>
                <a:close/>
              </a:path>
            </a:pathLst>
          </a:custGeom>
          <a:blipFill>
            <a:blip>
              <a:extLst>
                <a:ext uri="{96DAC541-7B7A-43D3-8B79-37D633B846F1}">
                  <asvg:svgBlip xmlns:asvg="http://schemas.microsoft.com/office/drawing/2016/SVG/main" r:embed="rId3"/>
                </a:ext>
              </a:extLst>
            </a:blip>
            <a:stretch>
              <a:fillRect r="-55779" b="-44261"/>
            </a:stretch>
          </a:blipFill>
        </p:spPr>
      </p:sp>
      <p:sp>
        <p:nvSpPr>
          <p:cNvPr id="4" name="TextBox 4"/>
          <p:cNvSpPr txBox="1"/>
          <p:nvPr/>
        </p:nvSpPr>
        <p:spPr>
          <a:xfrm>
            <a:off x="12269582" y="5186459"/>
            <a:ext cx="3537010" cy="2777489"/>
          </a:xfrm>
          <a:prstGeom prst="rect">
            <a:avLst/>
          </a:prstGeom>
        </p:spPr>
        <p:txBody>
          <a:bodyPr lIns="0" tIns="0" rIns="0" bIns="0" rtlCol="0" anchor="t">
            <a:spAutoFit/>
          </a:bodyPr>
          <a:lstStyle/>
          <a:p>
            <a:pPr algn="l">
              <a:lnSpc>
                <a:spcPts val="3150"/>
              </a:lnSpc>
            </a:pPr>
            <a:r>
              <a:rPr lang="en-US" sz="2100">
                <a:solidFill>
                  <a:srgbClr val="000000"/>
                </a:solidFill>
                <a:latin typeface="Now"/>
                <a:ea typeface="Now"/>
                <a:cs typeface="Now"/>
                <a:sym typeface="Now"/>
              </a:rPr>
              <a:t>Insights &amp; Decision-Making</a:t>
            </a:r>
          </a:p>
          <a:p>
            <a:pPr algn="l">
              <a:lnSpc>
                <a:spcPts val="3150"/>
              </a:lnSpc>
            </a:pPr>
            <a:endParaRPr lang="en-US" sz="2100">
              <a:solidFill>
                <a:srgbClr val="000000"/>
              </a:solidFill>
              <a:latin typeface="Now"/>
              <a:ea typeface="Now"/>
              <a:cs typeface="Now"/>
              <a:sym typeface="Now"/>
            </a:endParaRPr>
          </a:p>
          <a:p>
            <a:pPr algn="l">
              <a:lnSpc>
                <a:spcPts val="3150"/>
              </a:lnSpc>
            </a:pPr>
            <a:r>
              <a:rPr lang="en-US" sz="2100">
                <a:solidFill>
                  <a:srgbClr val="000000"/>
                </a:solidFill>
                <a:latin typeface="Now"/>
                <a:ea typeface="Now"/>
                <a:cs typeface="Now"/>
                <a:sym typeface="Now"/>
              </a:rPr>
              <a:t>Identify areas for improvement and provide meaningful insights to support data-driven business decisions.</a:t>
            </a:r>
          </a:p>
        </p:txBody>
      </p:sp>
      <p:sp>
        <p:nvSpPr>
          <p:cNvPr id="5" name="TextBox 5"/>
          <p:cNvSpPr txBox="1"/>
          <p:nvPr/>
        </p:nvSpPr>
        <p:spPr>
          <a:xfrm>
            <a:off x="3687259" y="1362075"/>
            <a:ext cx="1091348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Objectives</a:t>
            </a:r>
          </a:p>
        </p:txBody>
      </p:sp>
      <p:sp>
        <p:nvSpPr>
          <p:cNvPr id="6" name="Freeform 6"/>
          <p:cNvSpPr/>
          <p:nvPr/>
        </p:nvSpPr>
        <p:spPr>
          <a:xfrm>
            <a:off x="6958195" y="3239003"/>
            <a:ext cx="4368814" cy="6019297"/>
          </a:xfrm>
          <a:custGeom>
            <a:avLst/>
            <a:gdLst/>
            <a:ahLst/>
            <a:cxnLst/>
            <a:rect l="l" t="t" r="r" b="b"/>
            <a:pathLst>
              <a:path w="4368814" h="6019297">
                <a:moveTo>
                  <a:pt x="0" y="0"/>
                </a:moveTo>
                <a:lnTo>
                  <a:pt x="4368815" y="0"/>
                </a:lnTo>
                <a:lnTo>
                  <a:pt x="4368815" y="6019297"/>
                </a:lnTo>
                <a:lnTo>
                  <a:pt x="0" y="6019297"/>
                </a:lnTo>
                <a:lnTo>
                  <a:pt x="0" y="0"/>
                </a:lnTo>
                <a:close/>
              </a:path>
            </a:pathLst>
          </a:custGeom>
          <a:blipFill>
            <a:blip>
              <a:extLst>
                <a:ext uri="{96DAC541-7B7A-43D3-8B79-37D633B846F1}">
                  <asvg:svgBlip xmlns:asvg="http://schemas.microsoft.com/office/drawing/2016/SVG/main" r:embed="rId3"/>
                </a:ext>
              </a:extLst>
            </a:blip>
            <a:stretch>
              <a:fillRect r="-55779" b="-44261"/>
            </a:stretch>
          </a:blipFill>
        </p:spPr>
      </p:sp>
      <p:sp>
        <p:nvSpPr>
          <p:cNvPr id="7" name="TextBox 7"/>
          <p:cNvSpPr txBox="1"/>
          <p:nvPr/>
        </p:nvSpPr>
        <p:spPr>
          <a:xfrm>
            <a:off x="7217273" y="5186459"/>
            <a:ext cx="3853454" cy="2891367"/>
          </a:xfrm>
          <a:prstGeom prst="rect">
            <a:avLst/>
          </a:prstGeom>
        </p:spPr>
        <p:txBody>
          <a:bodyPr lIns="0" tIns="0" rIns="0" bIns="0" rtlCol="0" anchor="t">
            <a:spAutoFit/>
          </a:bodyPr>
          <a:lstStyle/>
          <a:p>
            <a:pPr algn="l">
              <a:lnSpc>
                <a:spcPts val="2861"/>
              </a:lnSpc>
            </a:pPr>
            <a:r>
              <a:rPr lang="en-US" sz="1907">
                <a:solidFill>
                  <a:srgbClr val="000000"/>
                </a:solidFill>
                <a:latin typeface="Now"/>
                <a:ea typeface="Now"/>
                <a:cs typeface="Now"/>
                <a:sym typeface="Now"/>
              </a:rPr>
              <a:t>     Interactive Dashboard </a:t>
            </a:r>
          </a:p>
          <a:p>
            <a:pPr algn="l">
              <a:lnSpc>
                <a:spcPts val="2861"/>
              </a:lnSpc>
            </a:pPr>
            <a:r>
              <a:rPr lang="en-US" sz="1907">
                <a:solidFill>
                  <a:srgbClr val="000000"/>
                </a:solidFill>
                <a:latin typeface="Now"/>
                <a:ea typeface="Now"/>
                <a:cs typeface="Now"/>
                <a:sym typeface="Now"/>
              </a:rPr>
              <a:t>        Development:</a:t>
            </a:r>
          </a:p>
          <a:p>
            <a:pPr algn="l">
              <a:lnSpc>
                <a:spcPts val="2861"/>
              </a:lnSpc>
            </a:pPr>
            <a:endParaRPr lang="en-US" sz="1907">
              <a:solidFill>
                <a:srgbClr val="000000"/>
              </a:solidFill>
              <a:latin typeface="Now"/>
              <a:ea typeface="Now"/>
              <a:cs typeface="Now"/>
              <a:sym typeface="Now"/>
            </a:endParaRPr>
          </a:p>
          <a:p>
            <a:pPr algn="l">
              <a:lnSpc>
                <a:spcPts val="2861"/>
              </a:lnSpc>
            </a:pPr>
            <a:r>
              <a:rPr lang="en-US" sz="1907">
                <a:solidFill>
                  <a:srgbClr val="000000"/>
                </a:solidFill>
                <a:latin typeface="Now"/>
                <a:ea typeface="Now"/>
                <a:cs typeface="Now"/>
                <a:sym typeface="Now"/>
              </a:rPr>
              <a:t>Develop interactive Power BI dashboards to monitor key performance indicators (KPIs) and present business data clearly.</a:t>
            </a:r>
          </a:p>
        </p:txBody>
      </p:sp>
      <p:sp>
        <p:nvSpPr>
          <p:cNvPr id="8" name="Freeform 8"/>
          <p:cNvSpPr/>
          <p:nvPr/>
        </p:nvSpPr>
        <p:spPr>
          <a:xfrm>
            <a:off x="2065506" y="3239003"/>
            <a:ext cx="4368814" cy="6019297"/>
          </a:xfrm>
          <a:custGeom>
            <a:avLst/>
            <a:gdLst/>
            <a:ahLst/>
            <a:cxnLst/>
            <a:rect l="l" t="t" r="r" b="b"/>
            <a:pathLst>
              <a:path w="4368814" h="6019297">
                <a:moveTo>
                  <a:pt x="0" y="0"/>
                </a:moveTo>
                <a:lnTo>
                  <a:pt x="4368814" y="0"/>
                </a:lnTo>
                <a:lnTo>
                  <a:pt x="4368814" y="6019297"/>
                </a:lnTo>
                <a:lnTo>
                  <a:pt x="0" y="6019297"/>
                </a:lnTo>
                <a:lnTo>
                  <a:pt x="0" y="0"/>
                </a:lnTo>
                <a:close/>
              </a:path>
            </a:pathLst>
          </a:custGeom>
          <a:blipFill>
            <a:blip>
              <a:extLst>
                <a:ext uri="{96DAC541-7B7A-43D3-8B79-37D633B846F1}">
                  <asvg:svgBlip xmlns:asvg="http://schemas.microsoft.com/office/drawing/2016/SVG/main" r:embed="rId3"/>
                </a:ext>
              </a:extLst>
            </a:blip>
            <a:stretch>
              <a:fillRect r="-55779" b="-44261"/>
            </a:stretch>
          </a:blipFill>
        </p:spPr>
      </p:sp>
      <p:sp>
        <p:nvSpPr>
          <p:cNvPr id="9" name="TextBox 9"/>
          <p:cNvSpPr txBox="1"/>
          <p:nvPr/>
        </p:nvSpPr>
        <p:spPr>
          <a:xfrm>
            <a:off x="2307504" y="5186459"/>
            <a:ext cx="4126816" cy="2809682"/>
          </a:xfrm>
          <a:prstGeom prst="rect">
            <a:avLst/>
          </a:prstGeom>
        </p:spPr>
        <p:txBody>
          <a:bodyPr lIns="0" tIns="0" rIns="0" bIns="0" rtlCol="0" anchor="t">
            <a:spAutoFit/>
          </a:bodyPr>
          <a:lstStyle/>
          <a:p>
            <a:pPr algn="l">
              <a:lnSpc>
                <a:spcPts val="3187"/>
              </a:lnSpc>
            </a:pPr>
            <a:r>
              <a:rPr lang="en-US" sz="2124">
                <a:solidFill>
                  <a:srgbClr val="000000"/>
                </a:solidFill>
                <a:latin typeface="Now"/>
                <a:ea typeface="Now"/>
                <a:cs typeface="Now"/>
                <a:sym typeface="Now"/>
              </a:rPr>
              <a:t>Business Performance Analysis:</a:t>
            </a:r>
          </a:p>
          <a:p>
            <a:pPr algn="l">
              <a:lnSpc>
                <a:spcPts val="3187"/>
              </a:lnSpc>
            </a:pPr>
            <a:endParaRPr lang="en-US" sz="2124">
              <a:solidFill>
                <a:srgbClr val="000000"/>
              </a:solidFill>
              <a:latin typeface="Now"/>
              <a:ea typeface="Now"/>
              <a:cs typeface="Now"/>
              <a:sym typeface="Now"/>
            </a:endParaRPr>
          </a:p>
          <a:p>
            <a:pPr algn="l">
              <a:lnSpc>
                <a:spcPts val="3187"/>
              </a:lnSpc>
            </a:pPr>
            <a:r>
              <a:rPr lang="en-US" sz="2124">
                <a:solidFill>
                  <a:srgbClr val="000000"/>
                </a:solidFill>
                <a:latin typeface="Now"/>
                <a:ea typeface="Now"/>
                <a:cs typeface="Now"/>
                <a:sym typeface="Now"/>
              </a:rPr>
              <a:t>Analyze performance across Finance, Sales, Marketing and Supply Chain, including sales trends, profitability and customer performance.</a:t>
            </a:r>
          </a:p>
        </p:txBody>
      </p:sp>
      <p:sp>
        <p:nvSpPr>
          <p:cNvPr id="10" name="TextBox 10"/>
          <p:cNvSpPr txBox="1"/>
          <p:nvPr/>
        </p:nvSpPr>
        <p:spPr>
          <a:xfrm>
            <a:off x="3272287" y="3431430"/>
            <a:ext cx="195525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1</a:t>
            </a:r>
          </a:p>
        </p:txBody>
      </p:sp>
      <p:sp>
        <p:nvSpPr>
          <p:cNvPr id="11" name="TextBox 11"/>
          <p:cNvSpPr txBox="1"/>
          <p:nvPr/>
        </p:nvSpPr>
        <p:spPr>
          <a:xfrm>
            <a:off x="8164976" y="3431430"/>
            <a:ext cx="195525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2</a:t>
            </a:r>
          </a:p>
        </p:txBody>
      </p:sp>
      <p:sp>
        <p:nvSpPr>
          <p:cNvPr id="12" name="TextBox 12"/>
          <p:cNvSpPr txBox="1"/>
          <p:nvPr/>
        </p:nvSpPr>
        <p:spPr>
          <a:xfrm>
            <a:off x="13060461" y="3431430"/>
            <a:ext cx="1955253" cy="991248"/>
          </a:xfrm>
          <a:prstGeom prst="rect">
            <a:avLst/>
          </a:prstGeom>
        </p:spPr>
        <p:txBody>
          <a:bodyPr lIns="0" tIns="0" rIns="0" bIns="0" rtlCol="0" anchor="t">
            <a:spAutoFit/>
          </a:bodyPr>
          <a:lstStyle/>
          <a:p>
            <a:pPr algn="ctr">
              <a:lnSpc>
                <a:spcPts val="6970"/>
              </a:lnSpc>
            </a:pPr>
            <a:r>
              <a:rPr lang="en-US" sz="8500">
                <a:solidFill>
                  <a:srgbClr val="FFFFFF"/>
                </a:solidFill>
                <a:latin typeface="Gochi Hand"/>
                <a:ea typeface="Gochi Hand"/>
                <a:cs typeface="Gochi Hand"/>
                <a:sym typeface="Gochi Hand"/>
              </a:rPr>
              <a:t>3</a:t>
            </a:r>
          </a:p>
        </p:txBody>
      </p:sp>
      <p:sp>
        <p:nvSpPr>
          <p:cNvPr id="13" name="Freeform 13"/>
          <p:cNvSpPr/>
          <p:nvPr/>
        </p:nvSpPr>
        <p:spPr>
          <a:xfrm flipH="1">
            <a:off x="-475825" y="581641"/>
            <a:ext cx="4418750" cy="1735364"/>
          </a:xfrm>
          <a:custGeom>
            <a:avLst/>
            <a:gdLst/>
            <a:ahLst/>
            <a:cxnLst/>
            <a:rect l="l" t="t" r="r" b="b"/>
            <a:pathLst>
              <a:path w="4418750" h="1735364">
                <a:moveTo>
                  <a:pt x="4418750" y="0"/>
                </a:moveTo>
                <a:lnTo>
                  <a:pt x="0" y="0"/>
                </a:lnTo>
                <a:lnTo>
                  <a:pt x="0" y="1735364"/>
                </a:lnTo>
                <a:lnTo>
                  <a:pt x="4418750" y="1735364"/>
                </a:lnTo>
                <a:lnTo>
                  <a:pt x="441875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a:off x="13060461" y="467942"/>
            <a:ext cx="6632619" cy="1121516"/>
          </a:xfrm>
          <a:custGeom>
            <a:avLst/>
            <a:gdLst/>
            <a:ahLst/>
            <a:cxnLst/>
            <a:rect l="l" t="t" r="r" b="b"/>
            <a:pathLst>
              <a:path w="6632619" h="1121516">
                <a:moveTo>
                  <a:pt x="0" y="0"/>
                </a:moveTo>
                <a:lnTo>
                  <a:pt x="6632619" y="0"/>
                </a:lnTo>
                <a:lnTo>
                  <a:pt x="6632619" y="1121516"/>
                </a:lnTo>
                <a:lnTo>
                  <a:pt x="0" y="1121516"/>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flipH="1">
            <a:off x="-422436" y="-345093"/>
            <a:ext cx="4947445" cy="1942997"/>
          </a:xfrm>
          <a:custGeom>
            <a:avLst/>
            <a:gdLst/>
            <a:ahLst/>
            <a:cxnLst/>
            <a:rect l="l" t="t" r="r" b="b"/>
            <a:pathLst>
              <a:path w="4947445" h="1942997">
                <a:moveTo>
                  <a:pt x="4947445" y="0"/>
                </a:moveTo>
                <a:lnTo>
                  <a:pt x="0" y="0"/>
                </a:lnTo>
                <a:lnTo>
                  <a:pt x="0" y="1942997"/>
                </a:lnTo>
                <a:lnTo>
                  <a:pt x="4947445" y="1942997"/>
                </a:lnTo>
                <a:lnTo>
                  <a:pt x="4947445"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5400000">
            <a:off x="5357033" y="-2082541"/>
            <a:ext cx="7759412" cy="15120301"/>
          </a:xfrm>
          <a:custGeom>
            <a:avLst/>
            <a:gdLst/>
            <a:ahLst/>
            <a:cxnLst/>
            <a:rect l="l" t="t" r="r" b="b"/>
            <a:pathLst>
              <a:path w="7759412" h="15120301">
                <a:moveTo>
                  <a:pt x="0" y="0"/>
                </a:moveTo>
                <a:lnTo>
                  <a:pt x="7759412" y="0"/>
                </a:lnTo>
                <a:lnTo>
                  <a:pt x="7759412" y="15120301"/>
                </a:lnTo>
                <a:lnTo>
                  <a:pt x="0" y="15120301"/>
                </a:lnTo>
                <a:lnTo>
                  <a:pt x="0" y="0"/>
                </a:lnTo>
                <a:close/>
              </a:path>
            </a:pathLst>
          </a:custGeom>
          <a:blipFill>
            <a:blip r:embed="rId4"/>
            <a:stretch>
              <a:fillRect r="-50045"/>
            </a:stretch>
          </a:blipFill>
        </p:spPr>
      </p:sp>
      <p:sp>
        <p:nvSpPr>
          <p:cNvPr id="5" name="TextBox 5"/>
          <p:cNvSpPr txBox="1"/>
          <p:nvPr/>
        </p:nvSpPr>
        <p:spPr>
          <a:xfrm>
            <a:off x="4100866" y="3672350"/>
            <a:ext cx="9669058" cy="4166582"/>
          </a:xfrm>
          <a:prstGeom prst="rect">
            <a:avLst/>
          </a:prstGeom>
        </p:spPr>
        <p:txBody>
          <a:bodyPr lIns="0" tIns="0" rIns="0" bIns="0" rtlCol="0" anchor="t">
            <a:spAutoFit/>
          </a:bodyPr>
          <a:lstStyle/>
          <a:p>
            <a:pPr algn="ctr">
              <a:lnSpc>
                <a:spcPts val="3704"/>
              </a:lnSpc>
            </a:pPr>
            <a:r>
              <a:rPr lang="en-US" sz="2300">
                <a:solidFill>
                  <a:srgbClr val="000000"/>
                </a:solidFill>
                <a:latin typeface="Now"/>
                <a:ea typeface="Now"/>
                <a:cs typeface="Now"/>
                <a:sym typeface="Now"/>
              </a:rPr>
              <a:t>AtliQ Hardware operates in the consumer electronics industry, dealing with products such as computers and computer accessories. As the business grows across markets and sales channels, understanding its financial performance, customer behaviour, product sales and supply chain operations becomes important.</a:t>
            </a:r>
          </a:p>
          <a:p>
            <a:pPr algn="ctr">
              <a:lnSpc>
                <a:spcPts val="3704"/>
              </a:lnSpc>
            </a:pPr>
            <a:endParaRPr lang="en-US" sz="2300">
              <a:solidFill>
                <a:srgbClr val="000000"/>
              </a:solidFill>
              <a:latin typeface="Now"/>
              <a:ea typeface="Now"/>
              <a:cs typeface="Now"/>
              <a:sym typeface="Now"/>
            </a:endParaRPr>
          </a:p>
          <a:p>
            <a:pPr algn="ctr">
              <a:lnSpc>
                <a:spcPts val="3704"/>
              </a:lnSpc>
            </a:pPr>
            <a:r>
              <a:rPr lang="en-US" sz="2300">
                <a:solidFill>
                  <a:srgbClr val="000000"/>
                </a:solidFill>
                <a:latin typeface="Now"/>
                <a:ea typeface="Now"/>
                <a:cs typeface="Now"/>
                <a:sym typeface="Now"/>
              </a:rPr>
              <a:t>Business Insights 360 demonstrates how data analytics can help bring these different business areas together and support better decision-making.</a:t>
            </a:r>
          </a:p>
        </p:txBody>
      </p:sp>
      <p:sp>
        <p:nvSpPr>
          <p:cNvPr id="6" name="TextBox 6"/>
          <p:cNvSpPr txBox="1"/>
          <p:nvPr/>
        </p:nvSpPr>
        <p:spPr>
          <a:xfrm>
            <a:off x="3536079" y="2671831"/>
            <a:ext cx="9838576" cy="890296"/>
          </a:xfrm>
          <a:prstGeom prst="rect">
            <a:avLst/>
          </a:prstGeom>
        </p:spPr>
        <p:txBody>
          <a:bodyPr lIns="0" tIns="0" rIns="0" bIns="0" rtlCol="0" anchor="t">
            <a:spAutoFit/>
          </a:bodyPr>
          <a:lstStyle/>
          <a:p>
            <a:pPr algn="ctr">
              <a:lnSpc>
                <a:spcPts val="5740"/>
              </a:lnSpc>
            </a:pPr>
            <a:r>
              <a:rPr lang="en-US" sz="7000">
                <a:solidFill>
                  <a:srgbClr val="000000"/>
                </a:solidFill>
                <a:latin typeface="Bryndan Write"/>
                <a:ea typeface="Bryndan Write"/>
                <a:cs typeface="Bryndan Write"/>
                <a:sym typeface="Bryndan Write"/>
              </a:rPr>
              <a:t>AtliQ Harware</a:t>
            </a:r>
          </a:p>
        </p:txBody>
      </p:sp>
      <p:sp>
        <p:nvSpPr>
          <p:cNvPr id="7" name="Freeform 7"/>
          <p:cNvSpPr/>
          <p:nvPr/>
        </p:nvSpPr>
        <p:spPr>
          <a:xfrm>
            <a:off x="14902443" y="56257"/>
            <a:ext cx="3083294" cy="3083294"/>
          </a:xfrm>
          <a:custGeom>
            <a:avLst/>
            <a:gdLst/>
            <a:ahLst/>
            <a:cxnLst/>
            <a:rect l="l" t="t" r="r" b="b"/>
            <a:pathLst>
              <a:path w="3083294" h="3083294">
                <a:moveTo>
                  <a:pt x="0" y="0"/>
                </a:moveTo>
                <a:lnTo>
                  <a:pt x="3083295" y="0"/>
                </a:lnTo>
                <a:lnTo>
                  <a:pt x="3083295" y="3083294"/>
                </a:lnTo>
                <a:lnTo>
                  <a:pt x="0" y="308329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8" name="Freeform 8"/>
          <p:cNvSpPr/>
          <p:nvPr/>
        </p:nvSpPr>
        <p:spPr>
          <a:xfrm>
            <a:off x="499958" y="7838932"/>
            <a:ext cx="2353261" cy="2182115"/>
          </a:xfrm>
          <a:custGeom>
            <a:avLst/>
            <a:gdLst/>
            <a:ahLst/>
            <a:cxnLst/>
            <a:rect l="l" t="t" r="r" b="b"/>
            <a:pathLst>
              <a:path w="2353261" h="2182115">
                <a:moveTo>
                  <a:pt x="0" y="0"/>
                </a:moveTo>
                <a:lnTo>
                  <a:pt x="2353261" y="0"/>
                </a:lnTo>
                <a:lnTo>
                  <a:pt x="2353261" y="2182114"/>
                </a:lnTo>
                <a:lnTo>
                  <a:pt x="0" y="2182114"/>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Freeform 9"/>
          <p:cNvSpPr/>
          <p:nvPr/>
        </p:nvSpPr>
        <p:spPr>
          <a:xfrm>
            <a:off x="3278997" y="7542869"/>
            <a:ext cx="2492023" cy="1650346"/>
          </a:xfrm>
          <a:custGeom>
            <a:avLst/>
            <a:gdLst/>
            <a:ahLst/>
            <a:cxnLst/>
            <a:rect l="l" t="t" r="r" b="b"/>
            <a:pathLst>
              <a:path w="2492023" h="1650346">
                <a:moveTo>
                  <a:pt x="0" y="0"/>
                </a:moveTo>
                <a:lnTo>
                  <a:pt x="2492023" y="0"/>
                </a:lnTo>
                <a:lnTo>
                  <a:pt x="2492023" y="1650347"/>
                </a:lnTo>
                <a:lnTo>
                  <a:pt x="0" y="1650347"/>
                </a:lnTo>
                <a:lnTo>
                  <a:pt x="0" y="0"/>
                </a:lnTo>
                <a:close/>
              </a:path>
            </a:pathLst>
          </a:custGeom>
          <a:blipFill>
            <a:blip r:embed="rId7"/>
            <a:stretch>
              <a:fillRect/>
            </a:stretch>
          </a:blipFill>
        </p:spPr>
      </p:sp>
      <p:sp>
        <p:nvSpPr>
          <p:cNvPr id="10" name="Freeform 10"/>
          <p:cNvSpPr/>
          <p:nvPr/>
        </p:nvSpPr>
        <p:spPr>
          <a:xfrm>
            <a:off x="11883524" y="2102940"/>
            <a:ext cx="1491131" cy="1459187"/>
          </a:xfrm>
          <a:custGeom>
            <a:avLst/>
            <a:gdLst/>
            <a:ahLst/>
            <a:cxnLst/>
            <a:rect l="l" t="t" r="r" b="b"/>
            <a:pathLst>
              <a:path w="1491131" h="1459187">
                <a:moveTo>
                  <a:pt x="0" y="0"/>
                </a:moveTo>
                <a:lnTo>
                  <a:pt x="1491131" y="0"/>
                </a:lnTo>
                <a:lnTo>
                  <a:pt x="1491131" y="1459187"/>
                </a:lnTo>
                <a:lnTo>
                  <a:pt x="0" y="1459187"/>
                </a:lnTo>
                <a:lnTo>
                  <a:pt x="0" y="0"/>
                </a:lnTo>
                <a:close/>
              </a:path>
            </a:pathLst>
          </a:custGeom>
          <a:blipFill>
            <a:blip r:embed="rId8"/>
            <a:stretch>
              <a:fillRect/>
            </a:stretch>
          </a:blipFill>
        </p:spPr>
      </p:sp>
      <p:sp>
        <p:nvSpPr>
          <p:cNvPr id="11" name="Freeform 11"/>
          <p:cNvSpPr/>
          <p:nvPr/>
        </p:nvSpPr>
        <p:spPr>
          <a:xfrm>
            <a:off x="13769923" y="7838932"/>
            <a:ext cx="2265040" cy="1354284"/>
          </a:xfrm>
          <a:custGeom>
            <a:avLst/>
            <a:gdLst/>
            <a:ahLst/>
            <a:cxnLst/>
            <a:rect l="l" t="t" r="r" b="b"/>
            <a:pathLst>
              <a:path w="2265040" h="1354284">
                <a:moveTo>
                  <a:pt x="0" y="0"/>
                </a:moveTo>
                <a:lnTo>
                  <a:pt x="2265040" y="0"/>
                </a:lnTo>
                <a:lnTo>
                  <a:pt x="2265040" y="1354284"/>
                </a:lnTo>
                <a:lnTo>
                  <a:pt x="0" y="1354284"/>
                </a:lnTo>
                <a:lnTo>
                  <a:pt x="0" y="0"/>
                </a:lnTo>
                <a:close/>
              </a:path>
            </a:pathLst>
          </a:custGeom>
          <a:blipFill>
            <a:blip r:embed="rId9"/>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a:off x="12579378" y="2143797"/>
            <a:ext cx="5393353" cy="2999703"/>
          </a:xfrm>
          <a:custGeom>
            <a:avLst/>
            <a:gdLst/>
            <a:ahLst/>
            <a:cxnLst/>
            <a:rect l="l" t="t" r="r" b="b"/>
            <a:pathLst>
              <a:path w="5393353" h="2999703">
                <a:moveTo>
                  <a:pt x="0" y="0"/>
                </a:moveTo>
                <a:lnTo>
                  <a:pt x="5393354" y="0"/>
                </a:lnTo>
                <a:lnTo>
                  <a:pt x="5393354" y="2999703"/>
                </a:lnTo>
                <a:lnTo>
                  <a:pt x="0" y="2999703"/>
                </a:lnTo>
                <a:lnTo>
                  <a:pt x="0" y="0"/>
                </a:lnTo>
                <a:close/>
              </a:path>
            </a:pathLst>
          </a:custGeom>
          <a:blipFill>
            <a:blip r:embed="rId3"/>
            <a:stretch>
              <a:fillRect/>
            </a:stretch>
          </a:blipFill>
        </p:spPr>
      </p:sp>
      <p:sp>
        <p:nvSpPr>
          <p:cNvPr id="4" name="Freeform 4"/>
          <p:cNvSpPr/>
          <p:nvPr/>
        </p:nvSpPr>
        <p:spPr>
          <a:xfrm>
            <a:off x="7009432" y="2143797"/>
            <a:ext cx="4975504" cy="2999703"/>
          </a:xfrm>
          <a:custGeom>
            <a:avLst/>
            <a:gdLst/>
            <a:ahLst/>
            <a:cxnLst/>
            <a:rect l="l" t="t" r="r" b="b"/>
            <a:pathLst>
              <a:path w="4975504" h="2999703">
                <a:moveTo>
                  <a:pt x="0" y="0"/>
                </a:moveTo>
                <a:lnTo>
                  <a:pt x="4975504" y="0"/>
                </a:lnTo>
                <a:lnTo>
                  <a:pt x="4975504" y="2999703"/>
                </a:lnTo>
                <a:lnTo>
                  <a:pt x="0" y="2999703"/>
                </a:lnTo>
                <a:lnTo>
                  <a:pt x="0" y="0"/>
                </a:lnTo>
                <a:close/>
              </a:path>
            </a:pathLst>
          </a:custGeom>
          <a:blipFill>
            <a:blip r:embed="rId4"/>
            <a:stretch>
              <a:fillRect l="-4148" r="-4148"/>
            </a:stretch>
          </a:blipFill>
        </p:spPr>
      </p:sp>
      <p:sp>
        <p:nvSpPr>
          <p:cNvPr id="5" name="Freeform 5"/>
          <p:cNvSpPr/>
          <p:nvPr/>
        </p:nvSpPr>
        <p:spPr>
          <a:xfrm>
            <a:off x="1028700" y="2143797"/>
            <a:ext cx="5386290" cy="2999703"/>
          </a:xfrm>
          <a:custGeom>
            <a:avLst/>
            <a:gdLst/>
            <a:ahLst/>
            <a:cxnLst/>
            <a:rect l="l" t="t" r="r" b="b"/>
            <a:pathLst>
              <a:path w="5386290" h="2999703">
                <a:moveTo>
                  <a:pt x="0" y="0"/>
                </a:moveTo>
                <a:lnTo>
                  <a:pt x="5386290" y="0"/>
                </a:lnTo>
                <a:lnTo>
                  <a:pt x="5386290" y="2999703"/>
                </a:lnTo>
                <a:lnTo>
                  <a:pt x="0" y="2999703"/>
                </a:lnTo>
                <a:lnTo>
                  <a:pt x="0" y="0"/>
                </a:lnTo>
                <a:close/>
              </a:path>
            </a:pathLst>
          </a:custGeom>
          <a:blipFill>
            <a:blip r:embed="rId5"/>
            <a:stretch>
              <a:fillRect/>
            </a:stretch>
          </a:blipFill>
        </p:spPr>
      </p:sp>
      <p:sp>
        <p:nvSpPr>
          <p:cNvPr id="6" name="Freeform 6"/>
          <p:cNvSpPr/>
          <p:nvPr/>
        </p:nvSpPr>
        <p:spPr>
          <a:xfrm>
            <a:off x="1028700" y="6342814"/>
            <a:ext cx="5247875" cy="2915486"/>
          </a:xfrm>
          <a:custGeom>
            <a:avLst/>
            <a:gdLst/>
            <a:ahLst/>
            <a:cxnLst/>
            <a:rect l="l" t="t" r="r" b="b"/>
            <a:pathLst>
              <a:path w="5247875" h="2915486">
                <a:moveTo>
                  <a:pt x="0" y="0"/>
                </a:moveTo>
                <a:lnTo>
                  <a:pt x="5247875" y="0"/>
                </a:lnTo>
                <a:lnTo>
                  <a:pt x="5247875" y="2915486"/>
                </a:lnTo>
                <a:lnTo>
                  <a:pt x="0" y="2915486"/>
                </a:lnTo>
                <a:lnTo>
                  <a:pt x="0" y="0"/>
                </a:lnTo>
                <a:close/>
              </a:path>
            </a:pathLst>
          </a:custGeom>
          <a:blipFill>
            <a:blip r:embed="rId6"/>
            <a:stretch>
              <a:fillRect/>
            </a:stretch>
          </a:blipFill>
        </p:spPr>
      </p:sp>
      <p:sp>
        <p:nvSpPr>
          <p:cNvPr id="7" name="Freeform 7"/>
          <p:cNvSpPr/>
          <p:nvPr/>
        </p:nvSpPr>
        <p:spPr>
          <a:xfrm>
            <a:off x="6875718" y="6342814"/>
            <a:ext cx="5242933" cy="2915486"/>
          </a:xfrm>
          <a:custGeom>
            <a:avLst/>
            <a:gdLst/>
            <a:ahLst/>
            <a:cxnLst/>
            <a:rect l="l" t="t" r="r" b="b"/>
            <a:pathLst>
              <a:path w="5242933" h="2915486">
                <a:moveTo>
                  <a:pt x="0" y="0"/>
                </a:moveTo>
                <a:lnTo>
                  <a:pt x="5242933" y="0"/>
                </a:lnTo>
                <a:lnTo>
                  <a:pt x="5242933" y="2915486"/>
                </a:lnTo>
                <a:lnTo>
                  <a:pt x="0" y="2915486"/>
                </a:lnTo>
                <a:lnTo>
                  <a:pt x="0" y="0"/>
                </a:lnTo>
                <a:close/>
              </a:path>
            </a:pathLst>
          </a:custGeom>
          <a:blipFill>
            <a:blip r:embed="rId7"/>
            <a:stretch>
              <a:fillRect/>
            </a:stretch>
          </a:blipFill>
        </p:spPr>
      </p:sp>
      <p:sp>
        <p:nvSpPr>
          <p:cNvPr id="8" name="Freeform 8"/>
          <p:cNvSpPr/>
          <p:nvPr/>
        </p:nvSpPr>
        <p:spPr>
          <a:xfrm>
            <a:off x="2684258" y="5321620"/>
            <a:ext cx="1800012" cy="792733"/>
          </a:xfrm>
          <a:custGeom>
            <a:avLst/>
            <a:gdLst/>
            <a:ahLst/>
            <a:cxnLst/>
            <a:rect l="l" t="t" r="r" b="b"/>
            <a:pathLst>
              <a:path w="1800012" h="792733">
                <a:moveTo>
                  <a:pt x="0" y="0"/>
                </a:moveTo>
                <a:lnTo>
                  <a:pt x="1800011" y="0"/>
                </a:lnTo>
                <a:lnTo>
                  <a:pt x="1800011" y="792733"/>
                </a:lnTo>
                <a:lnTo>
                  <a:pt x="0" y="792733"/>
                </a:lnTo>
                <a:lnTo>
                  <a:pt x="0" y="0"/>
                </a:lnTo>
                <a:close/>
              </a:path>
            </a:pathLst>
          </a:custGeom>
          <a:blipFill>
            <a:blip r:embed="rId8"/>
            <a:stretch>
              <a:fillRect l="-16157" t="-92539"/>
            </a:stretch>
          </a:blipFill>
        </p:spPr>
      </p:sp>
      <p:sp>
        <p:nvSpPr>
          <p:cNvPr id="9" name="Freeform 9"/>
          <p:cNvSpPr/>
          <p:nvPr/>
        </p:nvSpPr>
        <p:spPr>
          <a:xfrm rot="721296">
            <a:off x="2822707" y="5687991"/>
            <a:ext cx="1307780" cy="332889"/>
          </a:xfrm>
          <a:custGeom>
            <a:avLst/>
            <a:gdLst/>
            <a:ahLst/>
            <a:cxnLst/>
            <a:rect l="l" t="t" r="r" b="b"/>
            <a:pathLst>
              <a:path w="1307780" h="332889">
                <a:moveTo>
                  <a:pt x="0" y="0"/>
                </a:moveTo>
                <a:lnTo>
                  <a:pt x="1307780" y="0"/>
                </a:lnTo>
                <a:lnTo>
                  <a:pt x="1307780" y="332889"/>
                </a:lnTo>
                <a:lnTo>
                  <a:pt x="0" y="33288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0" name="Freeform 10"/>
          <p:cNvSpPr/>
          <p:nvPr/>
        </p:nvSpPr>
        <p:spPr>
          <a:xfrm>
            <a:off x="8538316" y="5321620"/>
            <a:ext cx="1800012" cy="792733"/>
          </a:xfrm>
          <a:custGeom>
            <a:avLst/>
            <a:gdLst/>
            <a:ahLst/>
            <a:cxnLst/>
            <a:rect l="l" t="t" r="r" b="b"/>
            <a:pathLst>
              <a:path w="1800012" h="792733">
                <a:moveTo>
                  <a:pt x="0" y="0"/>
                </a:moveTo>
                <a:lnTo>
                  <a:pt x="1800011" y="0"/>
                </a:lnTo>
                <a:lnTo>
                  <a:pt x="1800011" y="792733"/>
                </a:lnTo>
                <a:lnTo>
                  <a:pt x="0" y="792733"/>
                </a:lnTo>
                <a:lnTo>
                  <a:pt x="0" y="0"/>
                </a:lnTo>
                <a:close/>
              </a:path>
            </a:pathLst>
          </a:custGeom>
          <a:blipFill>
            <a:blip r:embed="rId8"/>
            <a:stretch>
              <a:fillRect l="-16157" t="-92539"/>
            </a:stretch>
          </a:blipFill>
        </p:spPr>
      </p:sp>
      <p:sp>
        <p:nvSpPr>
          <p:cNvPr id="11" name="Freeform 11"/>
          <p:cNvSpPr/>
          <p:nvPr/>
        </p:nvSpPr>
        <p:spPr>
          <a:xfrm rot="721296">
            <a:off x="8676765" y="5687991"/>
            <a:ext cx="1307780" cy="332889"/>
          </a:xfrm>
          <a:custGeom>
            <a:avLst/>
            <a:gdLst/>
            <a:ahLst/>
            <a:cxnLst/>
            <a:rect l="l" t="t" r="r" b="b"/>
            <a:pathLst>
              <a:path w="1307780" h="332889">
                <a:moveTo>
                  <a:pt x="0" y="0"/>
                </a:moveTo>
                <a:lnTo>
                  <a:pt x="1307780" y="0"/>
                </a:lnTo>
                <a:lnTo>
                  <a:pt x="1307780" y="332889"/>
                </a:lnTo>
                <a:lnTo>
                  <a:pt x="0" y="33288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2637698" y="9258300"/>
            <a:ext cx="1800012" cy="792733"/>
          </a:xfrm>
          <a:custGeom>
            <a:avLst/>
            <a:gdLst/>
            <a:ahLst/>
            <a:cxnLst/>
            <a:rect l="l" t="t" r="r" b="b"/>
            <a:pathLst>
              <a:path w="1800012" h="792733">
                <a:moveTo>
                  <a:pt x="0" y="0"/>
                </a:moveTo>
                <a:lnTo>
                  <a:pt x="1800012" y="0"/>
                </a:lnTo>
                <a:lnTo>
                  <a:pt x="1800012" y="792733"/>
                </a:lnTo>
                <a:lnTo>
                  <a:pt x="0" y="792733"/>
                </a:lnTo>
                <a:lnTo>
                  <a:pt x="0" y="0"/>
                </a:lnTo>
                <a:close/>
              </a:path>
            </a:pathLst>
          </a:custGeom>
          <a:blipFill>
            <a:blip r:embed="rId8"/>
            <a:stretch>
              <a:fillRect l="-16157" t="-92539"/>
            </a:stretch>
          </a:blipFill>
        </p:spPr>
      </p:sp>
      <p:sp>
        <p:nvSpPr>
          <p:cNvPr id="13" name="Freeform 13"/>
          <p:cNvSpPr/>
          <p:nvPr/>
        </p:nvSpPr>
        <p:spPr>
          <a:xfrm rot="721296">
            <a:off x="2776147" y="9624671"/>
            <a:ext cx="1307780" cy="332889"/>
          </a:xfrm>
          <a:custGeom>
            <a:avLst/>
            <a:gdLst/>
            <a:ahLst/>
            <a:cxnLst/>
            <a:rect l="l" t="t" r="r" b="b"/>
            <a:pathLst>
              <a:path w="1307780" h="332889">
                <a:moveTo>
                  <a:pt x="0" y="0"/>
                </a:moveTo>
                <a:lnTo>
                  <a:pt x="1307780" y="0"/>
                </a:lnTo>
                <a:lnTo>
                  <a:pt x="1307780" y="332889"/>
                </a:lnTo>
                <a:lnTo>
                  <a:pt x="0" y="33288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4" name="Freeform 14"/>
          <p:cNvSpPr/>
          <p:nvPr/>
        </p:nvSpPr>
        <p:spPr>
          <a:xfrm>
            <a:off x="8538316" y="9375214"/>
            <a:ext cx="1800012" cy="792733"/>
          </a:xfrm>
          <a:custGeom>
            <a:avLst/>
            <a:gdLst/>
            <a:ahLst/>
            <a:cxnLst/>
            <a:rect l="l" t="t" r="r" b="b"/>
            <a:pathLst>
              <a:path w="1800012" h="792733">
                <a:moveTo>
                  <a:pt x="0" y="0"/>
                </a:moveTo>
                <a:lnTo>
                  <a:pt x="1800011" y="0"/>
                </a:lnTo>
                <a:lnTo>
                  <a:pt x="1800011" y="792733"/>
                </a:lnTo>
                <a:lnTo>
                  <a:pt x="0" y="792733"/>
                </a:lnTo>
                <a:lnTo>
                  <a:pt x="0" y="0"/>
                </a:lnTo>
                <a:close/>
              </a:path>
            </a:pathLst>
          </a:custGeom>
          <a:blipFill>
            <a:blip r:embed="rId8"/>
            <a:stretch>
              <a:fillRect l="-16157" t="-92539"/>
            </a:stretch>
          </a:blipFill>
        </p:spPr>
      </p:sp>
      <p:sp>
        <p:nvSpPr>
          <p:cNvPr id="15" name="Freeform 15"/>
          <p:cNvSpPr/>
          <p:nvPr/>
        </p:nvSpPr>
        <p:spPr>
          <a:xfrm rot="721296">
            <a:off x="8676765" y="9741586"/>
            <a:ext cx="1307780" cy="332889"/>
          </a:xfrm>
          <a:custGeom>
            <a:avLst/>
            <a:gdLst/>
            <a:ahLst/>
            <a:cxnLst/>
            <a:rect l="l" t="t" r="r" b="b"/>
            <a:pathLst>
              <a:path w="1307780" h="332889">
                <a:moveTo>
                  <a:pt x="0" y="0"/>
                </a:moveTo>
                <a:lnTo>
                  <a:pt x="1307780" y="0"/>
                </a:lnTo>
                <a:lnTo>
                  <a:pt x="1307780" y="332889"/>
                </a:lnTo>
                <a:lnTo>
                  <a:pt x="0" y="33288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6" name="Freeform 16"/>
          <p:cNvSpPr/>
          <p:nvPr/>
        </p:nvSpPr>
        <p:spPr>
          <a:xfrm>
            <a:off x="14818731" y="5330257"/>
            <a:ext cx="1800012" cy="792733"/>
          </a:xfrm>
          <a:custGeom>
            <a:avLst/>
            <a:gdLst/>
            <a:ahLst/>
            <a:cxnLst/>
            <a:rect l="l" t="t" r="r" b="b"/>
            <a:pathLst>
              <a:path w="1800012" h="792733">
                <a:moveTo>
                  <a:pt x="0" y="0"/>
                </a:moveTo>
                <a:lnTo>
                  <a:pt x="1800011" y="0"/>
                </a:lnTo>
                <a:lnTo>
                  <a:pt x="1800011" y="792733"/>
                </a:lnTo>
                <a:lnTo>
                  <a:pt x="0" y="792733"/>
                </a:lnTo>
                <a:lnTo>
                  <a:pt x="0" y="0"/>
                </a:lnTo>
                <a:close/>
              </a:path>
            </a:pathLst>
          </a:custGeom>
          <a:blipFill>
            <a:blip r:embed="rId8"/>
            <a:stretch>
              <a:fillRect l="-16157" t="-92539"/>
            </a:stretch>
          </a:blipFill>
        </p:spPr>
      </p:sp>
      <p:sp>
        <p:nvSpPr>
          <p:cNvPr id="17" name="Freeform 17"/>
          <p:cNvSpPr/>
          <p:nvPr/>
        </p:nvSpPr>
        <p:spPr>
          <a:xfrm rot="721296">
            <a:off x="14957180" y="5696628"/>
            <a:ext cx="1307780" cy="332889"/>
          </a:xfrm>
          <a:custGeom>
            <a:avLst/>
            <a:gdLst/>
            <a:ahLst/>
            <a:cxnLst/>
            <a:rect l="l" t="t" r="r" b="b"/>
            <a:pathLst>
              <a:path w="1307780" h="332889">
                <a:moveTo>
                  <a:pt x="0" y="0"/>
                </a:moveTo>
                <a:lnTo>
                  <a:pt x="1307780" y="0"/>
                </a:lnTo>
                <a:lnTo>
                  <a:pt x="1307780" y="332890"/>
                </a:lnTo>
                <a:lnTo>
                  <a:pt x="0" y="33289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8" name="Freeform 18"/>
          <p:cNvSpPr/>
          <p:nvPr/>
        </p:nvSpPr>
        <p:spPr>
          <a:xfrm>
            <a:off x="14089774" y="6342814"/>
            <a:ext cx="2386388" cy="2697911"/>
          </a:xfrm>
          <a:custGeom>
            <a:avLst/>
            <a:gdLst/>
            <a:ahLst/>
            <a:cxnLst/>
            <a:rect l="l" t="t" r="r" b="b"/>
            <a:pathLst>
              <a:path w="2386388" h="2697911">
                <a:moveTo>
                  <a:pt x="0" y="0"/>
                </a:moveTo>
                <a:lnTo>
                  <a:pt x="2386388" y="0"/>
                </a:lnTo>
                <a:lnTo>
                  <a:pt x="2386388" y="2697911"/>
                </a:lnTo>
                <a:lnTo>
                  <a:pt x="0" y="2697911"/>
                </a:lnTo>
                <a:lnTo>
                  <a:pt x="0" y="0"/>
                </a:lnTo>
                <a:close/>
              </a:path>
            </a:pathLst>
          </a:custGeom>
          <a:blipFill>
            <a:blip r:embed="rId10"/>
            <a:stretch>
              <a:fillRect/>
            </a:stretch>
          </a:blipFill>
        </p:spPr>
      </p:sp>
      <p:sp>
        <p:nvSpPr>
          <p:cNvPr id="19" name="TextBox 19"/>
          <p:cNvSpPr txBox="1"/>
          <p:nvPr/>
        </p:nvSpPr>
        <p:spPr>
          <a:xfrm>
            <a:off x="2422364" y="5522418"/>
            <a:ext cx="2108465" cy="223740"/>
          </a:xfrm>
          <a:prstGeom prst="rect">
            <a:avLst/>
          </a:prstGeom>
        </p:spPr>
        <p:txBody>
          <a:bodyPr lIns="0" tIns="0" rIns="0" bIns="0" rtlCol="0" anchor="t">
            <a:spAutoFit/>
          </a:bodyPr>
          <a:lstStyle/>
          <a:p>
            <a:pPr algn="ctr">
              <a:lnSpc>
                <a:spcPts val="1520"/>
              </a:lnSpc>
            </a:pPr>
            <a:r>
              <a:rPr lang="en-US" sz="1854">
                <a:solidFill>
                  <a:srgbClr val="000000"/>
                </a:solidFill>
                <a:latin typeface="Gochi Hand"/>
                <a:ea typeface="Gochi Hand"/>
                <a:cs typeface="Gochi Hand"/>
                <a:sym typeface="Gochi Hand"/>
              </a:rPr>
              <a:t>Finance View</a:t>
            </a:r>
          </a:p>
        </p:txBody>
      </p:sp>
      <p:sp>
        <p:nvSpPr>
          <p:cNvPr id="20" name="TextBox 20"/>
          <p:cNvSpPr txBox="1"/>
          <p:nvPr/>
        </p:nvSpPr>
        <p:spPr>
          <a:xfrm>
            <a:off x="8276422" y="5522418"/>
            <a:ext cx="2108465" cy="223740"/>
          </a:xfrm>
          <a:prstGeom prst="rect">
            <a:avLst/>
          </a:prstGeom>
        </p:spPr>
        <p:txBody>
          <a:bodyPr lIns="0" tIns="0" rIns="0" bIns="0" rtlCol="0" anchor="t">
            <a:spAutoFit/>
          </a:bodyPr>
          <a:lstStyle/>
          <a:p>
            <a:pPr algn="ctr">
              <a:lnSpc>
                <a:spcPts val="1520"/>
              </a:lnSpc>
            </a:pPr>
            <a:r>
              <a:rPr lang="en-US" sz="1854">
                <a:solidFill>
                  <a:srgbClr val="000000"/>
                </a:solidFill>
                <a:latin typeface="Gochi Hand"/>
                <a:ea typeface="Gochi Hand"/>
                <a:cs typeface="Gochi Hand"/>
                <a:sym typeface="Gochi Hand"/>
              </a:rPr>
              <a:t>Sales View</a:t>
            </a:r>
          </a:p>
        </p:txBody>
      </p:sp>
      <p:sp>
        <p:nvSpPr>
          <p:cNvPr id="21" name="TextBox 21"/>
          <p:cNvSpPr txBox="1"/>
          <p:nvPr/>
        </p:nvSpPr>
        <p:spPr>
          <a:xfrm>
            <a:off x="2637698" y="9484463"/>
            <a:ext cx="1846572" cy="198376"/>
          </a:xfrm>
          <a:prstGeom prst="rect">
            <a:avLst/>
          </a:prstGeom>
        </p:spPr>
        <p:txBody>
          <a:bodyPr lIns="0" tIns="0" rIns="0" bIns="0" rtlCol="0" anchor="t">
            <a:spAutoFit/>
          </a:bodyPr>
          <a:lstStyle/>
          <a:p>
            <a:pPr algn="ctr">
              <a:lnSpc>
                <a:spcPts val="1331"/>
              </a:lnSpc>
            </a:pPr>
            <a:r>
              <a:rPr lang="en-US" sz="1624">
                <a:solidFill>
                  <a:srgbClr val="000000"/>
                </a:solidFill>
                <a:latin typeface="Gochi Hand"/>
                <a:ea typeface="Gochi Hand"/>
                <a:cs typeface="Gochi Hand"/>
                <a:sym typeface="Gochi Hand"/>
              </a:rPr>
              <a:t>Supply Chain View</a:t>
            </a:r>
          </a:p>
        </p:txBody>
      </p:sp>
      <p:sp>
        <p:nvSpPr>
          <p:cNvPr id="22" name="TextBox 22"/>
          <p:cNvSpPr txBox="1"/>
          <p:nvPr/>
        </p:nvSpPr>
        <p:spPr>
          <a:xfrm>
            <a:off x="8276422" y="9576013"/>
            <a:ext cx="2108465" cy="223740"/>
          </a:xfrm>
          <a:prstGeom prst="rect">
            <a:avLst/>
          </a:prstGeom>
        </p:spPr>
        <p:txBody>
          <a:bodyPr lIns="0" tIns="0" rIns="0" bIns="0" rtlCol="0" anchor="t">
            <a:spAutoFit/>
          </a:bodyPr>
          <a:lstStyle/>
          <a:p>
            <a:pPr algn="ctr">
              <a:lnSpc>
                <a:spcPts val="1520"/>
              </a:lnSpc>
            </a:pPr>
            <a:r>
              <a:rPr lang="en-US" sz="1854">
                <a:solidFill>
                  <a:srgbClr val="000000"/>
                </a:solidFill>
                <a:latin typeface="Gochi Hand"/>
                <a:ea typeface="Gochi Hand"/>
                <a:cs typeface="Gochi Hand"/>
                <a:sym typeface="Gochi Hand"/>
              </a:rPr>
              <a:t>Executive View</a:t>
            </a:r>
          </a:p>
        </p:txBody>
      </p:sp>
      <p:sp>
        <p:nvSpPr>
          <p:cNvPr id="23" name="TextBox 23"/>
          <p:cNvSpPr txBox="1"/>
          <p:nvPr/>
        </p:nvSpPr>
        <p:spPr>
          <a:xfrm>
            <a:off x="14664504" y="5502884"/>
            <a:ext cx="2108465" cy="223740"/>
          </a:xfrm>
          <a:prstGeom prst="rect">
            <a:avLst/>
          </a:prstGeom>
        </p:spPr>
        <p:txBody>
          <a:bodyPr lIns="0" tIns="0" rIns="0" bIns="0" rtlCol="0" anchor="t">
            <a:spAutoFit/>
          </a:bodyPr>
          <a:lstStyle/>
          <a:p>
            <a:pPr algn="ctr">
              <a:lnSpc>
                <a:spcPts val="1520"/>
              </a:lnSpc>
            </a:pPr>
            <a:r>
              <a:rPr lang="en-US" sz="1854">
                <a:solidFill>
                  <a:srgbClr val="000000"/>
                </a:solidFill>
                <a:latin typeface="Gochi Hand"/>
                <a:ea typeface="Gochi Hand"/>
                <a:cs typeface="Gochi Hand"/>
                <a:sym typeface="Gochi Hand"/>
              </a:rPr>
              <a:t>Marketing View</a:t>
            </a:r>
          </a:p>
        </p:txBody>
      </p:sp>
      <p:sp>
        <p:nvSpPr>
          <p:cNvPr id="24" name="Freeform 24"/>
          <p:cNvSpPr/>
          <p:nvPr/>
        </p:nvSpPr>
        <p:spPr>
          <a:xfrm>
            <a:off x="14629591" y="9193142"/>
            <a:ext cx="1800012" cy="792733"/>
          </a:xfrm>
          <a:custGeom>
            <a:avLst/>
            <a:gdLst/>
            <a:ahLst/>
            <a:cxnLst/>
            <a:rect l="l" t="t" r="r" b="b"/>
            <a:pathLst>
              <a:path w="1800012" h="792733">
                <a:moveTo>
                  <a:pt x="0" y="0"/>
                </a:moveTo>
                <a:lnTo>
                  <a:pt x="1800011" y="0"/>
                </a:lnTo>
                <a:lnTo>
                  <a:pt x="1800011" y="792733"/>
                </a:lnTo>
                <a:lnTo>
                  <a:pt x="0" y="792733"/>
                </a:lnTo>
                <a:lnTo>
                  <a:pt x="0" y="0"/>
                </a:lnTo>
                <a:close/>
              </a:path>
            </a:pathLst>
          </a:custGeom>
          <a:blipFill>
            <a:blip r:embed="rId8"/>
            <a:stretch>
              <a:fillRect l="-16157" t="-92539"/>
            </a:stretch>
          </a:blipFill>
        </p:spPr>
      </p:sp>
      <p:sp>
        <p:nvSpPr>
          <p:cNvPr id="25" name="Freeform 25"/>
          <p:cNvSpPr/>
          <p:nvPr/>
        </p:nvSpPr>
        <p:spPr>
          <a:xfrm rot="721296">
            <a:off x="14768040" y="9559513"/>
            <a:ext cx="1307780" cy="332889"/>
          </a:xfrm>
          <a:custGeom>
            <a:avLst/>
            <a:gdLst/>
            <a:ahLst/>
            <a:cxnLst/>
            <a:rect l="l" t="t" r="r" b="b"/>
            <a:pathLst>
              <a:path w="1307780" h="332889">
                <a:moveTo>
                  <a:pt x="0" y="0"/>
                </a:moveTo>
                <a:lnTo>
                  <a:pt x="1307780" y="0"/>
                </a:lnTo>
                <a:lnTo>
                  <a:pt x="1307780" y="332889"/>
                </a:lnTo>
                <a:lnTo>
                  <a:pt x="0" y="332889"/>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26" name="TextBox 26"/>
          <p:cNvSpPr txBox="1"/>
          <p:nvPr/>
        </p:nvSpPr>
        <p:spPr>
          <a:xfrm>
            <a:off x="14442537" y="9365768"/>
            <a:ext cx="2108465" cy="223740"/>
          </a:xfrm>
          <a:prstGeom prst="rect">
            <a:avLst/>
          </a:prstGeom>
        </p:spPr>
        <p:txBody>
          <a:bodyPr lIns="0" tIns="0" rIns="0" bIns="0" rtlCol="0" anchor="t">
            <a:spAutoFit/>
          </a:bodyPr>
          <a:lstStyle/>
          <a:p>
            <a:pPr algn="ctr">
              <a:lnSpc>
                <a:spcPts val="1520"/>
              </a:lnSpc>
            </a:pPr>
            <a:r>
              <a:rPr lang="en-US" sz="1854">
                <a:solidFill>
                  <a:srgbClr val="000000"/>
                </a:solidFill>
                <a:latin typeface="Gochi Hand"/>
                <a:ea typeface="Gochi Hand"/>
                <a:cs typeface="Gochi Hand"/>
                <a:sym typeface="Gochi Hand"/>
              </a:rPr>
              <a:t>Data Modelling</a:t>
            </a:r>
          </a:p>
        </p:txBody>
      </p:sp>
      <p:sp>
        <p:nvSpPr>
          <p:cNvPr id="27" name="TextBox 27"/>
          <p:cNvSpPr txBox="1"/>
          <p:nvPr/>
        </p:nvSpPr>
        <p:spPr>
          <a:xfrm>
            <a:off x="3537704" y="104775"/>
            <a:ext cx="13666218" cy="1585581"/>
          </a:xfrm>
          <a:prstGeom prst="rect">
            <a:avLst/>
          </a:prstGeom>
        </p:spPr>
        <p:txBody>
          <a:bodyPr lIns="0" tIns="0" rIns="0" bIns="0" rtlCol="0" anchor="t">
            <a:spAutoFit/>
          </a:bodyPr>
          <a:lstStyle/>
          <a:p>
            <a:pPr algn="ctr">
              <a:lnSpc>
                <a:spcPts val="11105"/>
              </a:lnSpc>
            </a:pPr>
            <a:r>
              <a:rPr lang="en-US" sz="11105">
                <a:solidFill>
                  <a:srgbClr val="FFFFFF"/>
                </a:solidFill>
                <a:latin typeface="Bryndan Write"/>
                <a:ea typeface="Bryndan Write"/>
                <a:cs typeface="Bryndan Write"/>
                <a:sym typeface="Bryndan Write"/>
              </a:rPr>
              <a:t>Business Insights 360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14306103" y="6834503"/>
            <a:ext cx="1620925" cy="2086738"/>
          </a:xfrm>
          <a:custGeom>
            <a:avLst/>
            <a:gdLst/>
            <a:ahLst/>
            <a:cxnLst/>
            <a:rect l="l" t="t" r="r" b="b"/>
            <a:pathLst>
              <a:path w="1620925" h="2086738">
                <a:moveTo>
                  <a:pt x="0" y="0"/>
                </a:moveTo>
                <a:lnTo>
                  <a:pt x="1620925" y="0"/>
                </a:lnTo>
                <a:lnTo>
                  <a:pt x="1620925" y="2086737"/>
                </a:lnTo>
                <a:lnTo>
                  <a:pt x="0" y="208673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3105182" y="2293201"/>
            <a:ext cx="12821846" cy="6210046"/>
          </a:xfrm>
          <a:prstGeom prst="rect">
            <a:avLst/>
          </a:prstGeom>
        </p:spPr>
        <p:txBody>
          <a:bodyPr lIns="0" tIns="0" rIns="0" bIns="0" rtlCol="0" anchor="t">
            <a:spAutoFit/>
          </a:bodyPr>
          <a:lstStyle/>
          <a:p>
            <a:pPr algn="l">
              <a:lnSpc>
                <a:spcPts val="4830"/>
              </a:lnSpc>
            </a:pPr>
            <a:r>
              <a:rPr lang="en-US" sz="3000" b="1">
                <a:solidFill>
                  <a:srgbClr val="000000"/>
                </a:solidFill>
                <a:latin typeface="Now Bold"/>
                <a:ea typeface="Now Bold"/>
                <a:cs typeface="Now Bold"/>
                <a:sym typeface="Now Bold"/>
              </a:rPr>
              <a:t>Before building dashboards, it is important to understand what the business needs.</a:t>
            </a:r>
          </a:p>
          <a:p>
            <a:pPr algn="l">
              <a:lnSpc>
                <a:spcPts val="1288"/>
              </a:lnSpc>
            </a:pPr>
            <a:endParaRPr lang="en-US" sz="3000" b="1">
              <a:solidFill>
                <a:srgbClr val="000000"/>
              </a:solidFill>
              <a:latin typeface="Now Bold"/>
              <a:ea typeface="Now Bold"/>
              <a:cs typeface="Now Bold"/>
              <a:sym typeface="Now Bold"/>
            </a:endParaRPr>
          </a:p>
          <a:p>
            <a:pPr algn="l">
              <a:lnSpc>
                <a:spcPts val="1288"/>
              </a:lnSpc>
            </a:pPr>
            <a:endParaRPr lang="en-US" sz="3000" b="1">
              <a:solidFill>
                <a:srgbClr val="000000"/>
              </a:solidFill>
              <a:latin typeface="Now Bold"/>
              <a:ea typeface="Now Bold"/>
              <a:cs typeface="Now Bold"/>
              <a:sym typeface="Now Bold"/>
            </a:endParaRPr>
          </a:p>
          <a:p>
            <a:pPr algn="l">
              <a:lnSpc>
                <a:spcPts val="3864"/>
              </a:lnSpc>
            </a:pPr>
            <a:r>
              <a:rPr lang="en-US" sz="2400" b="1">
                <a:solidFill>
                  <a:srgbClr val="000000"/>
                </a:solidFill>
                <a:latin typeface="Now Bold"/>
                <a:ea typeface="Now Bold"/>
                <a:cs typeface="Now Bold"/>
                <a:sym typeface="Now Bold"/>
              </a:rPr>
              <a:t>KEY ACTIVITIES:</a:t>
            </a:r>
          </a:p>
          <a:p>
            <a:pPr marL="518165" lvl="1" indent="-259083" algn="l">
              <a:lnSpc>
                <a:spcPts val="3864"/>
              </a:lnSpc>
              <a:buAutoNum type="arabicPeriod"/>
            </a:pPr>
            <a:r>
              <a:rPr lang="en-US" sz="2400">
                <a:solidFill>
                  <a:srgbClr val="000000"/>
                </a:solidFill>
                <a:latin typeface="Now"/>
                <a:ea typeface="Now"/>
                <a:cs typeface="Now"/>
                <a:sym typeface="Now"/>
              </a:rPr>
              <a:t>Understanding the problem statement</a:t>
            </a:r>
          </a:p>
          <a:p>
            <a:pPr marL="518165" lvl="1" indent="-259083" algn="l">
              <a:lnSpc>
                <a:spcPts val="3864"/>
              </a:lnSpc>
              <a:buAutoNum type="arabicPeriod"/>
            </a:pPr>
            <a:r>
              <a:rPr lang="en-US" sz="2400">
                <a:solidFill>
                  <a:srgbClr val="000000"/>
                </a:solidFill>
                <a:latin typeface="Now"/>
                <a:ea typeface="Now"/>
                <a:cs typeface="Now"/>
                <a:sym typeface="Now"/>
              </a:rPr>
              <a:t>Identifying stakeholders and business requirements</a:t>
            </a:r>
          </a:p>
          <a:p>
            <a:pPr marL="518165" lvl="1" indent="-259083" algn="l">
              <a:lnSpc>
                <a:spcPts val="3864"/>
              </a:lnSpc>
              <a:buAutoNum type="arabicPeriod"/>
            </a:pPr>
            <a:r>
              <a:rPr lang="en-US" sz="2400">
                <a:solidFill>
                  <a:srgbClr val="000000"/>
                </a:solidFill>
                <a:latin typeface="Now"/>
                <a:ea typeface="Now"/>
                <a:cs typeface="Now"/>
                <a:sym typeface="Now"/>
              </a:rPr>
              <a:t>Defining project scope and deliverables</a:t>
            </a:r>
          </a:p>
          <a:p>
            <a:pPr marL="518165" lvl="1" indent="-259083" algn="l">
              <a:lnSpc>
                <a:spcPts val="3864"/>
              </a:lnSpc>
              <a:buAutoNum type="arabicPeriod"/>
            </a:pPr>
            <a:r>
              <a:rPr lang="en-US" sz="2400">
                <a:solidFill>
                  <a:srgbClr val="000000"/>
                </a:solidFill>
                <a:latin typeface="Now"/>
                <a:ea typeface="Now"/>
                <a:cs typeface="Now"/>
                <a:sym typeface="Now"/>
              </a:rPr>
              <a:t>Reviewing the project charter</a:t>
            </a:r>
          </a:p>
          <a:p>
            <a:pPr marL="518165" lvl="1" indent="-259083" algn="l">
              <a:lnSpc>
                <a:spcPts val="3864"/>
              </a:lnSpc>
              <a:buAutoNum type="arabicPeriod"/>
            </a:pPr>
            <a:r>
              <a:rPr lang="en-US" sz="2400">
                <a:solidFill>
                  <a:srgbClr val="000000"/>
                </a:solidFill>
                <a:latin typeface="Now"/>
                <a:ea typeface="Now"/>
                <a:cs typeface="Now"/>
                <a:sym typeface="Now"/>
              </a:rPr>
              <a:t>Identifying key performance indicators (KPIs)</a:t>
            </a:r>
          </a:p>
          <a:p>
            <a:pPr algn="l">
              <a:lnSpc>
                <a:spcPts val="966"/>
              </a:lnSpc>
            </a:pPr>
            <a:endParaRPr lang="en-US" sz="2400">
              <a:solidFill>
                <a:srgbClr val="000000"/>
              </a:solidFill>
              <a:latin typeface="Now"/>
              <a:ea typeface="Now"/>
              <a:cs typeface="Now"/>
              <a:sym typeface="Now"/>
            </a:endParaRPr>
          </a:p>
          <a:p>
            <a:pPr algn="l">
              <a:lnSpc>
                <a:spcPts val="1288"/>
              </a:lnSpc>
            </a:pPr>
            <a:endParaRPr lang="en-US" sz="2400">
              <a:solidFill>
                <a:srgbClr val="000000"/>
              </a:solidFill>
              <a:latin typeface="Now"/>
              <a:ea typeface="Now"/>
              <a:cs typeface="Now"/>
              <a:sym typeface="Now"/>
            </a:endParaRPr>
          </a:p>
          <a:p>
            <a:pPr algn="l">
              <a:lnSpc>
                <a:spcPts val="3864"/>
              </a:lnSpc>
            </a:pPr>
            <a:r>
              <a:rPr lang="en-US" sz="2400" b="1">
                <a:solidFill>
                  <a:srgbClr val="000000"/>
                </a:solidFill>
                <a:latin typeface="Now Bold"/>
                <a:ea typeface="Now Bold"/>
                <a:cs typeface="Now Bold"/>
                <a:sym typeface="Now Bold"/>
              </a:rPr>
              <a:t>KEY TAKEAWAY:</a:t>
            </a:r>
          </a:p>
          <a:p>
            <a:pPr algn="l">
              <a:lnSpc>
                <a:spcPts val="3864"/>
              </a:lnSpc>
            </a:pPr>
            <a:r>
              <a:rPr lang="en-US" sz="2400">
                <a:solidFill>
                  <a:srgbClr val="000000"/>
                </a:solidFill>
                <a:latin typeface="Now"/>
                <a:ea typeface="Now"/>
                <a:cs typeface="Now"/>
                <a:sym typeface="Now"/>
              </a:rPr>
              <a:t>Good analysis starts with the right business questions.</a:t>
            </a:r>
          </a:p>
          <a:p>
            <a:pPr algn="ctr">
              <a:lnSpc>
                <a:spcPts val="3864"/>
              </a:lnSpc>
            </a:pPr>
            <a:endParaRPr lang="en-US" sz="2400">
              <a:solidFill>
                <a:srgbClr val="000000"/>
              </a:solidFill>
              <a:latin typeface="Now"/>
              <a:ea typeface="Now"/>
              <a:cs typeface="Now"/>
              <a:sym typeface="Now"/>
            </a:endParaRPr>
          </a:p>
        </p:txBody>
      </p:sp>
      <p:sp>
        <p:nvSpPr>
          <p:cNvPr id="10" name="Freeform 10"/>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a:off x="11431340" y="3650351"/>
            <a:ext cx="4235636" cy="2386146"/>
          </a:xfrm>
          <a:custGeom>
            <a:avLst/>
            <a:gdLst/>
            <a:ahLst/>
            <a:cxnLst/>
            <a:rect l="l" t="t" r="r" b="b"/>
            <a:pathLst>
              <a:path w="4235636" h="2386146">
                <a:moveTo>
                  <a:pt x="0" y="0"/>
                </a:moveTo>
                <a:lnTo>
                  <a:pt x="4235636" y="0"/>
                </a:lnTo>
                <a:lnTo>
                  <a:pt x="4235636" y="2386146"/>
                </a:lnTo>
                <a:lnTo>
                  <a:pt x="0" y="2386146"/>
                </a:lnTo>
                <a:lnTo>
                  <a:pt x="0" y="0"/>
                </a:lnTo>
                <a:close/>
              </a:path>
            </a:pathLst>
          </a:custGeom>
          <a:blipFill>
            <a:blip r:embed="rId10"/>
            <a:stretch>
              <a:fillRect/>
            </a:stretch>
          </a:blipFill>
        </p:spPr>
      </p:sp>
      <p:sp>
        <p:nvSpPr>
          <p:cNvPr id="12" name="TextBox 12"/>
          <p:cNvSpPr txBox="1"/>
          <p:nvPr/>
        </p:nvSpPr>
        <p:spPr>
          <a:xfrm>
            <a:off x="4918219" y="1048743"/>
            <a:ext cx="9495463"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PROJECT PLANNING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278214" y="2149691"/>
            <a:ext cx="12821846" cy="6497066"/>
          </a:xfrm>
          <a:prstGeom prst="rect">
            <a:avLst/>
          </a:prstGeom>
        </p:spPr>
        <p:txBody>
          <a:bodyPr lIns="0" tIns="0" rIns="0" bIns="0" rtlCol="0" anchor="t">
            <a:spAutoFit/>
          </a:bodyPr>
          <a:lstStyle/>
          <a:p>
            <a:pPr algn="l">
              <a:lnSpc>
                <a:spcPts val="4830"/>
              </a:lnSpc>
            </a:pPr>
            <a:r>
              <a:rPr lang="en-US" sz="3000" b="1">
                <a:solidFill>
                  <a:srgbClr val="000000"/>
                </a:solidFill>
                <a:latin typeface="Now Bold"/>
                <a:ea typeface="Now Bold"/>
                <a:cs typeface="Now Bold"/>
                <a:sym typeface="Now Bold"/>
              </a:rPr>
              <a:t>FROM RAW DATA TO ANALYSIS-READY DATA</a:t>
            </a:r>
          </a:p>
          <a:p>
            <a:pPr algn="l">
              <a:lnSpc>
                <a:spcPts val="966"/>
              </a:lnSpc>
            </a:pPr>
            <a:endParaRPr lang="en-US" sz="3000" b="1">
              <a:solidFill>
                <a:srgbClr val="000000"/>
              </a:solidFill>
              <a:latin typeface="Now Bold"/>
              <a:ea typeface="Now Bold"/>
              <a:cs typeface="Now Bold"/>
              <a:sym typeface="Now Bold"/>
            </a:endParaRPr>
          </a:p>
          <a:p>
            <a:pPr algn="l">
              <a:lnSpc>
                <a:spcPts val="3864"/>
              </a:lnSpc>
            </a:pPr>
            <a:r>
              <a:rPr lang="en-US" sz="2400" b="1">
                <a:solidFill>
                  <a:srgbClr val="000000"/>
                </a:solidFill>
                <a:latin typeface="Now Bold"/>
                <a:ea typeface="Now Bold"/>
                <a:cs typeface="Now Bold"/>
                <a:sym typeface="Now Bold"/>
              </a:rPr>
              <a:t>The first step was understanding the available data and preparing it for analysis.</a:t>
            </a:r>
          </a:p>
          <a:p>
            <a:pPr algn="l">
              <a:lnSpc>
                <a:spcPts val="966"/>
              </a:lnSpc>
            </a:pPr>
            <a:endParaRPr lang="en-US" sz="2400" b="1">
              <a:solidFill>
                <a:srgbClr val="000000"/>
              </a:solidFill>
              <a:latin typeface="Now Bold"/>
              <a:ea typeface="Now Bold"/>
              <a:cs typeface="Now Bold"/>
              <a:sym typeface="Now Bold"/>
            </a:endParaRPr>
          </a:p>
          <a:p>
            <a:pPr algn="l">
              <a:lnSpc>
                <a:spcPts val="3864"/>
              </a:lnSpc>
            </a:pPr>
            <a:r>
              <a:rPr lang="en-US" sz="2400" b="1">
                <a:solidFill>
                  <a:srgbClr val="000000"/>
                </a:solidFill>
                <a:latin typeface="Now Bold"/>
                <a:ea typeface="Now Bold"/>
                <a:cs typeface="Now Bold"/>
                <a:sym typeface="Now Bold"/>
              </a:rPr>
              <a:t>KEY CONCEPTS:</a:t>
            </a:r>
          </a:p>
          <a:p>
            <a:pPr algn="l">
              <a:lnSpc>
                <a:spcPts val="3864"/>
              </a:lnSpc>
            </a:pPr>
            <a:r>
              <a:rPr lang="en-US" sz="2400" b="1">
                <a:solidFill>
                  <a:srgbClr val="000000"/>
                </a:solidFill>
                <a:latin typeface="Now Bold"/>
                <a:ea typeface="Now Bold"/>
                <a:cs typeface="Now Bold"/>
                <a:sym typeface="Now Bold"/>
              </a:rPr>
              <a:t>• </a:t>
            </a:r>
            <a:r>
              <a:rPr lang="en-US" sz="2400">
                <a:solidFill>
                  <a:srgbClr val="000000"/>
                </a:solidFill>
                <a:latin typeface="Now"/>
                <a:ea typeface="Now"/>
                <a:cs typeface="Now"/>
                <a:sym typeface="Now"/>
              </a:rPr>
              <a:t>Data collection and exploration</a:t>
            </a:r>
          </a:p>
          <a:p>
            <a:pPr algn="l">
              <a:lnSpc>
                <a:spcPts val="3864"/>
              </a:lnSpc>
            </a:pPr>
            <a:r>
              <a:rPr lang="en-US" sz="2400">
                <a:solidFill>
                  <a:srgbClr val="000000"/>
                </a:solidFill>
                <a:latin typeface="Now"/>
                <a:ea typeface="Now"/>
                <a:cs typeface="Now"/>
                <a:sym typeface="Now"/>
              </a:rPr>
              <a:t>• ETL — Extract, Transform, Load</a:t>
            </a:r>
          </a:p>
          <a:p>
            <a:pPr algn="l">
              <a:lnSpc>
                <a:spcPts val="3864"/>
              </a:lnSpc>
            </a:pPr>
            <a:r>
              <a:rPr lang="en-US" sz="2400">
                <a:solidFill>
                  <a:srgbClr val="000000"/>
                </a:solidFill>
                <a:latin typeface="Now"/>
                <a:ea typeface="Now"/>
                <a:cs typeface="Now"/>
                <a:sym typeface="Now"/>
              </a:rPr>
              <a:t>• OLTP vs. OLAP</a:t>
            </a:r>
          </a:p>
          <a:p>
            <a:pPr algn="l">
              <a:lnSpc>
                <a:spcPts val="3864"/>
              </a:lnSpc>
            </a:pPr>
            <a:r>
              <a:rPr lang="en-US" sz="2400">
                <a:solidFill>
                  <a:srgbClr val="000000"/>
                </a:solidFill>
                <a:latin typeface="Now"/>
                <a:ea typeface="Now"/>
                <a:cs typeface="Now"/>
                <a:sym typeface="Now"/>
              </a:rPr>
              <a:t>• Data catalog</a:t>
            </a:r>
          </a:p>
          <a:p>
            <a:pPr algn="l">
              <a:lnSpc>
                <a:spcPts val="3864"/>
              </a:lnSpc>
            </a:pPr>
            <a:r>
              <a:rPr lang="en-US" sz="2400">
                <a:solidFill>
                  <a:srgbClr val="000000"/>
                </a:solidFill>
                <a:latin typeface="Now"/>
                <a:ea typeface="Now"/>
                <a:cs typeface="Now"/>
                <a:sym typeface="Now"/>
              </a:rPr>
              <a:t>• Importing data from MySQL</a:t>
            </a:r>
          </a:p>
          <a:p>
            <a:pPr algn="l">
              <a:lnSpc>
                <a:spcPts val="3864"/>
              </a:lnSpc>
            </a:pPr>
            <a:r>
              <a:rPr lang="en-US" sz="2400">
                <a:solidFill>
                  <a:srgbClr val="000000"/>
                </a:solidFill>
                <a:latin typeface="Now"/>
                <a:ea typeface="Now"/>
                <a:cs typeface="Now"/>
                <a:sym typeface="Now"/>
              </a:rPr>
              <a:t>• Data validation and benchmark checks</a:t>
            </a:r>
          </a:p>
          <a:p>
            <a:pPr algn="l">
              <a:lnSpc>
                <a:spcPts val="1288"/>
              </a:lnSpc>
            </a:pPr>
            <a:endParaRPr lang="en-US" sz="2400">
              <a:solidFill>
                <a:srgbClr val="000000"/>
              </a:solidFill>
              <a:latin typeface="Now"/>
              <a:ea typeface="Now"/>
              <a:cs typeface="Now"/>
              <a:sym typeface="Now"/>
            </a:endParaRPr>
          </a:p>
          <a:p>
            <a:pPr algn="l">
              <a:lnSpc>
                <a:spcPts val="966"/>
              </a:lnSpc>
            </a:pPr>
            <a:endParaRPr lang="en-US" sz="2400">
              <a:solidFill>
                <a:srgbClr val="000000"/>
              </a:solidFill>
              <a:latin typeface="Now"/>
              <a:ea typeface="Now"/>
              <a:cs typeface="Now"/>
              <a:sym typeface="Now"/>
            </a:endParaRPr>
          </a:p>
          <a:p>
            <a:pPr algn="l">
              <a:lnSpc>
                <a:spcPts val="3864"/>
              </a:lnSpc>
            </a:pPr>
            <a:r>
              <a:rPr lang="en-US" sz="2400" b="1">
                <a:solidFill>
                  <a:srgbClr val="000000"/>
                </a:solidFill>
                <a:latin typeface="Now Bold"/>
                <a:ea typeface="Now Bold"/>
                <a:cs typeface="Now Bold"/>
                <a:sym typeface="Now Bold"/>
              </a:rPr>
              <a:t>TOOLS:</a:t>
            </a:r>
          </a:p>
          <a:p>
            <a:pPr algn="l">
              <a:lnSpc>
                <a:spcPts val="3864"/>
              </a:lnSpc>
            </a:pPr>
            <a:r>
              <a:rPr lang="en-US" sz="2400">
                <a:solidFill>
                  <a:srgbClr val="000000"/>
                </a:solidFill>
                <a:latin typeface="Now"/>
                <a:ea typeface="Now"/>
                <a:cs typeface="Now"/>
                <a:sym typeface="Now"/>
              </a:rPr>
              <a:t>MySQL | Power Query</a:t>
            </a:r>
          </a:p>
          <a:p>
            <a:pPr algn="ctr">
              <a:lnSpc>
                <a:spcPts val="3864"/>
              </a:lnSpc>
            </a:pPr>
            <a:endParaRPr lang="en-US" sz="2400">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0540263" y="4183158"/>
            <a:ext cx="4499243" cy="2553958"/>
          </a:xfrm>
          <a:custGeom>
            <a:avLst/>
            <a:gdLst/>
            <a:ahLst/>
            <a:cxnLst/>
            <a:rect l="l" t="t" r="r" b="b"/>
            <a:pathLst>
              <a:path w="4499243" h="2553958">
                <a:moveTo>
                  <a:pt x="0" y="0"/>
                </a:moveTo>
                <a:lnTo>
                  <a:pt x="4499243" y="0"/>
                </a:lnTo>
                <a:lnTo>
                  <a:pt x="4499243" y="2553957"/>
                </a:lnTo>
                <a:lnTo>
                  <a:pt x="0" y="2553957"/>
                </a:lnTo>
                <a:lnTo>
                  <a:pt x="0" y="0"/>
                </a:lnTo>
                <a:close/>
              </a:path>
            </a:pathLst>
          </a:custGeom>
          <a:blipFill>
            <a:blip r:embed="rId9"/>
            <a:stretch>
              <a:fillRect/>
            </a:stretch>
          </a:blipFill>
        </p:spPr>
      </p:sp>
      <p:sp>
        <p:nvSpPr>
          <p:cNvPr id="11" name="TextBox 11"/>
          <p:cNvSpPr txBox="1"/>
          <p:nvPr/>
        </p:nvSpPr>
        <p:spPr>
          <a:xfrm>
            <a:off x="4662841" y="1040087"/>
            <a:ext cx="10376665" cy="733943"/>
          </a:xfrm>
          <a:prstGeom prst="rect">
            <a:avLst/>
          </a:prstGeom>
        </p:spPr>
        <p:txBody>
          <a:bodyPr lIns="0" tIns="0" rIns="0" bIns="0" rtlCol="0" anchor="t">
            <a:spAutoFit/>
          </a:bodyPr>
          <a:lstStyle/>
          <a:p>
            <a:pPr algn="ctr">
              <a:lnSpc>
                <a:spcPts val="4792"/>
              </a:lnSpc>
            </a:pPr>
            <a:r>
              <a:rPr lang="en-US" sz="5844">
                <a:solidFill>
                  <a:srgbClr val="000000"/>
                </a:solidFill>
                <a:latin typeface="Bryndan Write"/>
                <a:ea typeface="Bryndan Write"/>
                <a:cs typeface="Bryndan Write"/>
                <a:sym typeface="Bryndan Write"/>
              </a:rPr>
              <a:t> Data Collection &amp; Preparation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105182" y="2068221"/>
            <a:ext cx="12011384" cy="6271820"/>
          </a:xfrm>
          <a:prstGeom prst="rect">
            <a:avLst/>
          </a:prstGeom>
        </p:spPr>
        <p:txBody>
          <a:bodyPr lIns="0" tIns="0" rIns="0" bIns="0" rtlCol="0" anchor="t">
            <a:spAutoFit/>
          </a:bodyPr>
          <a:lstStyle/>
          <a:p>
            <a:pPr algn="l">
              <a:lnSpc>
                <a:spcPts val="3619"/>
              </a:lnSpc>
            </a:pPr>
            <a:r>
              <a:rPr lang="en-US" sz="2248" b="1">
                <a:solidFill>
                  <a:srgbClr val="000000"/>
                </a:solidFill>
                <a:latin typeface="Now Bold"/>
                <a:ea typeface="Now Bold"/>
                <a:cs typeface="Now Bold"/>
                <a:sym typeface="Now Bold"/>
              </a:rPr>
              <a:t>BUILDING THE DATA MODEL:</a:t>
            </a:r>
          </a:p>
          <a:p>
            <a:pPr algn="l">
              <a:lnSpc>
                <a:spcPts val="904"/>
              </a:lnSpc>
            </a:pPr>
            <a:endParaRPr lang="en-US" sz="2248" b="1">
              <a:solidFill>
                <a:srgbClr val="000000"/>
              </a:solidFill>
              <a:latin typeface="Now Bold"/>
              <a:ea typeface="Now Bold"/>
              <a:cs typeface="Now Bold"/>
              <a:sym typeface="Now Bold"/>
            </a:endParaRPr>
          </a:p>
          <a:p>
            <a:pPr algn="l">
              <a:lnSpc>
                <a:spcPts val="3619"/>
              </a:lnSpc>
            </a:pPr>
            <a:r>
              <a:rPr lang="en-US" sz="2248" b="1">
                <a:solidFill>
                  <a:srgbClr val="000000"/>
                </a:solidFill>
                <a:latin typeface="Now Bold"/>
                <a:ea typeface="Now Bold"/>
                <a:cs typeface="Now Bold"/>
                <a:sym typeface="Now Bold"/>
              </a:rPr>
              <a:t>A well-designed data model helps organize data and supports accurate analysis.</a:t>
            </a:r>
          </a:p>
          <a:p>
            <a:pPr algn="l">
              <a:lnSpc>
                <a:spcPts val="3619"/>
              </a:lnSpc>
            </a:pPr>
            <a:r>
              <a:rPr lang="en-US" sz="2248" b="1">
                <a:solidFill>
                  <a:srgbClr val="000000"/>
                </a:solidFill>
                <a:latin typeface="Now Bold"/>
                <a:ea typeface="Now Bold"/>
                <a:cs typeface="Now Bold"/>
                <a:sym typeface="Now Bold"/>
              </a:rPr>
              <a:t>WHAT I LEARNED</a:t>
            </a:r>
          </a:p>
          <a:p>
            <a:pPr algn="l">
              <a:lnSpc>
                <a:spcPts val="904"/>
              </a:lnSpc>
            </a:pPr>
            <a:endParaRPr lang="en-US" sz="2248" b="1">
              <a:solidFill>
                <a:srgbClr val="000000"/>
              </a:solidFill>
              <a:latin typeface="Now Bold"/>
              <a:ea typeface="Now Bold"/>
              <a:cs typeface="Now Bold"/>
              <a:sym typeface="Now Bold"/>
            </a:endParaRPr>
          </a:p>
          <a:p>
            <a:pPr algn="l">
              <a:lnSpc>
                <a:spcPts val="3619"/>
              </a:lnSpc>
            </a:pPr>
            <a:r>
              <a:rPr lang="en-US" sz="2248" b="1">
                <a:solidFill>
                  <a:srgbClr val="000000"/>
                </a:solidFill>
                <a:latin typeface="Now Bold"/>
                <a:ea typeface="Now Bold"/>
                <a:cs typeface="Now Bold"/>
                <a:sym typeface="Now Bold"/>
              </a:rPr>
              <a:t>• </a:t>
            </a:r>
            <a:r>
              <a:rPr lang="en-US" sz="2248">
                <a:solidFill>
                  <a:srgbClr val="000000"/>
                </a:solidFill>
                <a:latin typeface="Now"/>
                <a:ea typeface="Now"/>
                <a:cs typeface="Now"/>
                <a:sym typeface="Now"/>
              </a:rPr>
              <a:t>Transforming data using Power Query (M)</a:t>
            </a:r>
          </a:p>
          <a:p>
            <a:pPr algn="l">
              <a:lnSpc>
                <a:spcPts val="3619"/>
              </a:lnSpc>
            </a:pPr>
            <a:r>
              <a:rPr lang="en-US" sz="2248">
                <a:solidFill>
                  <a:srgbClr val="000000"/>
                </a:solidFill>
                <a:latin typeface="Now"/>
                <a:ea typeface="Now"/>
                <a:cs typeface="Now"/>
                <a:sym typeface="Now"/>
              </a:rPr>
              <a:t>• Understanding star schema and snowflake dimensions</a:t>
            </a:r>
          </a:p>
          <a:p>
            <a:pPr algn="l">
              <a:lnSpc>
                <a:spcPts val="3619"/>
              </a:lnSpc>
            </a:pPr>
            <a:r>
              <a:rPr lang="en-US" sz="2248">
                <a:solidFill>
                  <a:srgbClr val="000000"/>
                </a:solidFill>
                <a:latin typeface="Now"/>
                <a:ea typeface="Now"/>
                <a:cs typeface="Now"/>
                <a:sym typeface="Now"/>
              </a:rPr>
              <a:t>• Working with fact and dimension tables</a:t>
            </a:r>
          </a:p>
          <a:p>
            <a:pPr algn="l">
              <a:lnSpc>
                <a:spcPts val="3619"/>
              </a:lnSpc>
            </a:pPr>
            <a:r>
              <a:rPr lang="en-US" sz="2248">
                <a:solidFill>
                  <a:srgbClr val="000000"/>
                </a:solidFill>
                <a:latin typeface="Now"/>
                <a:ea typeface="Now"/>
                <a:cs typeface="Now"/>
                <a:sym typeface="Now"/>
              </a:rPr>
              <a:t>• Establishing relationships between tables</a:t>
            </a:r>
          </a:p>
          <a:p>
            <a:pPr algn="l">
              <a:lnSpc>
                <a:spcPts val="3619"/>
              </a:lnSpc>
            </a:pPr>
            <a:r>
              <a:rPr lang="en-US" sz="2248">
                <a:solidFill>
                  <a:srgbClr val="000000"/>
                </a:solidFill>
                <a:latin typeface="Now"/>
                <a:ea typeface="Now"/>
                <a:cs typeface="Now"/>
                <a:sym typeface="Now"/>
              </a:rPr>
              <a:t>• Creating calculated columns</a:t>
            </a:r>
          </a:p>
          <a:p>
            <a:pPr algn="l">
              <a:lnSpc>
                <a:spcPts val="3619"/>
              </a:lnSpc>
            </a:pPr>
            <a:r>
              <a:rPr lang="en-US" sz="2248">
                <a:solidFill>
                  <a:srgbClr val="000000"/>
                </a:solidFill>
                <a:latin typeface="Now"/>
                <a:ea typeface="Now"/>
                <a:cs typeface="Now"/>
                <a:sym typeface="Now"/>
              </a:rPr>
              <a:t>• Validating model outputs</a:t>
            </a:r>
          </a:p>
          <a:p>
            <a:pPr algn="l">
              <a:lnSpc>
                <a:spcPts val="3619"/>
              </a:lnSpc>
            </a:pPr>
            <a:endParaRPr lang="en-US" sz="2248">
              <a:solidFill>
                <a:srgbClr val="000000"/>
              </a:solidFill>
              <a:latin typeface="Now"/>
              <a:ea typeface="Now"/>
              <a:cs typeface="Now"/>
              <a:sym typeface="Now"/>
            </a:endParaRPr>
          </a:p>
          <a:p>
            <a:pPr algn="l">
              <a:lnSpc>
                <a:spcPts val="3619"/>
              </a:lnSpc>
            </a:pPr>
            <a:r>
              <a:rPr lang="en-US" sz="2248" b="1">
                <a:solidFill>
                  <a:srgbClr val="000000"/>
                </a:solidFill>
                <a:latin typeface="Now Bold"/>
                <a:ea typeface="Now Bold"/>
                <a:cs typeface="Now Bold"/>
                <a:sym typeface="Now Bold"/>
              </a:rPr>
              <a:t>KEY TAKEAWAY:</a:t>
            </a:r>
          </a:p>
          <a:p>
            <a:pPr algn="l">
              <a:lnSpc>
                <a:spcPts val="904"/>
              </a:lnSpc>
            </a:pPr>
            <a:endParaRPr lang="en-US" sz="2248" b="1">
              <a:solidFill>
                <a:srgbClr val="000000"/>
              </a:solidFill>
              <a:latin typeface="Now Bold"/>
              <a:ea typeface="Now Bold"/>
              <a:cs typeface="Now Bold"/>
              <a:sym typeface="Now Bold"/>
            </a:endParaRPr>
          </a:p>
          <a:p>
            <a:pPr algn="l">
              <a:lnSpc>
                <a:spcPts val="3619"/>
              </a:lnSpc>
            </a:pPr>
            <a:r>
              <a:rPr lang="en-US" sz="2248" b="1">
                <a:solidFill>
                  <a:srgbClr val="000000"/>
                </a:solidFill>
                <a:latin typeface="Now Bold"/>
                <a:ea typeface="Now Bold"/>
                <a:cs typeface="Now Bold"/>
                <a:sym typeface="Now Bold"/>
              </a:rPr>
              <a:t>A reliable data model is the foundation of effective reporting.</a:t>
            </a:r>
          </a:p>
          <a:p>
            <a:pPr algn="l">
              <a:lnSpc>
                <a:spcPts val="3619"/>
              </a:lnSpc>
            </a:pPr>
            <a:endParaRPr lang="en-US" sz="2248" b="1">
              <a:solidFill>
                <a:srgbClr val="000000"/>
              </a:solidFill>
              <a:latin typeface="Now Bold"/>
              <a:ea typeface="Now Bold"/>
              <a:cs typeface="Now Bold"/>
              <a:sym typeface="Now Bold"/>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1286671" y="3918979"/>
            <a:ext cx="4192043" cy="3105217"/>
          </a:xfrm>
          <a:custGeom>
            <a:avLst/>
            <a:gdLst/>
            <a:ahLst/>
            <a:cxnLst/>
            <a:rect l="l" t="t" r="r" b="b"/>
            <a:pathLst>
              <a:path w="4192043" h="3105217">
                <a:moveTo>
                  <a:pt x="0" y="0"/>
                </a:moveTo>
                <a:lnTo>
                  <a:pt x="4192043" y="0"/>
                </a:lnTo>
                <a:lnTo>
                  <a:pt x="4192043" y="3105217"/>
                </a:lnTo>
                <a:lnTo>
                  <a:pt x="0" y="3105217"/>
                </a:lnTo>
                <a:lnTo>
                  <a:pt x="0" y="0"/>
                </a:lnTo>
                <a:close/>
              </a:path>
            </a:pathLst>
          </a:custGeom>
          <a:blipFill>
            <a:blip r:embed="rId9"/>
            <a:stretch>
              <a:fillRect/>
            </a:stretch>
          </a:blipFill>
        </p:spPr>
      </p:sp>
      <p:sp>
        <p:nvSpPr>
          <p:cNvPr id="11" name="TextBox 11"/>
          <p:cNvSpPr txBox="1"/>
          <p:nvPr/>
        </p:nvSpPr>
        <p:spPr>
          <a:xfrm>
            <a:off x="2824851" y="852922"/>
            <a:ext cx="13734346" cy="547124"/>
          </a:xfrm>
          <a:prstGeom prst="rect">
            <a:avLst/>
          </a:prstGeom>
        </p:spPr>
        <p:txBody>
          <a:bodyPr lIns="0" tIns="0" rIns="0" bIns="0" rtlCol="0" anchor="t">
            <a:spAutoFit/>
          </a:bodyPr>
          <a:lstStyle/>
          <a:p>
            <a:pPr algn="ctr">
              <a:lnSpc>
                <a:spcPts val="3552"/>
              </a:lnSpc>
            </a:pPr>
            <a:r>
              <a:rPr lang="en-US" sz="4332">
                <a:solidFill>
                  <a:srgbClr val="000000"/>
                </a:solidFill>
                <a:latin typeface="Bryndan Write"/>
                <a:ea typeface="Bryndan Write"/>
                <a:cs typeface="Bryndan Write"/>
                <a:sym typeface="Bryndan Write"/>
              </a:rPr>
              <a:t>Data Modeling &amp; Transformation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4100866" y="2250434"/>
            <a:ext cx="12688104" cy="7007866"/>
          </a:xfrm>
          <a:prstGeom prst="rect">
            <a:avLst/>
          </a:prstGeom>
        </p:spPr>
        <p:txBody>
          <a:bodyPr lIns="0" tIns="0" rIns="0" bIns="0" rtlCol="0" anchor="t">
            <a:spAutoFit/>
          </a:bodyPr>
          <a:lstStyle/>
          <a:p>
            <a:pPr algn="l">
              <a:lnSpc>
                <a:spcPts val="3650"/>
              </a:lnSpc>
            </a:pPr>
            <a:r>
              <a:rPr lang="en-US" sz="2267" b="1">
                <a:solidFill>
                  <a:srgbClr val="000000"/>
                </a:solidFill>
                <a:latin typeface="Now Bold"/>
                <a:ea typeface="Now Bold"/>
                <a:cs typeface="Now Bold"/>
                <a:sym typeface="Now Bold"/>
              </a:rPr>
              <a:t>TURNING BUSINESS REQUIREMENTS INTO CALCULATIONS</a:t>
            </a:r>
          </a:p>
          <a:p>
            <a:pPr algn="l">
              <a:lnSpc>
                <a:spcPts val="1216"/>
              </a:lnSpc>
            </a:pPr>
            <a:endParaRPr lang="en-US" sz="2267" b="1">
              <a:solidFill>
                <a:srgbClr val="000000"/>
              </a:solidFill>
              <a:latin typeface="Now Bold"/>
              <a:ea typeface="Now Bold"/>
              <a:cs typeface="Now Bold"/>
              <a:sym typeface="Now Bold"/>
            </a:endParaRPr>
          </a:p>
          <a:p>
            <a:pPr algn="l">
              <a:lnSpc>
                <a:spcPts val="3650"/>
              </a:lnSpc>
            </a:pPr>
            <a:r>
              <a:rPr lang="en-US" sz="2267" b="1">
                <a:solidFill>
                  <a:srgbClr val="000000"/>
                </a:solidFill>
                <a:latin typeface="Now Bold"/>
                <a:ea typeface="Now Bold"/>
                <a:cs typeface="Now Bold"/>
                <a:sym typeface="Now Bold"/>
              </a:rPr>
              <a:t>DAX (Data Analysis Expressions) helps create calculations used in Power BI reports.</a:t>
            </a:r>
          </a:p>
          <a:p>
            <a:pPr algn="l">
              <a:lnSpc>
                <a:spcPts val="1216"/>
              </a:lnSpc>
            </a:pPr>
            <a:endParaRPr lang="en-US" sz="2267" b="1">
              <a:solidFill>
                <a:srgbClr val="000000"/>
              </a:solidFill>
              <a:latin typeface="Now Bold"/>
              <a:ea typeface="Now Bold"/>
              <a:cs typeface="Now Bold"/>
              <a:sym typeface="Now Bold"/>
            </a:endParaRPr>
          </a:p>
          <a:p>
            <a:pPr algn="l">
              <a:lnSpc>
                <a:spcPts val="3650"/>
              </a:lnSpc>
            </a:pPr>
            <a:r>
              <a:rPr lang="en-US" sz="2267" b="1">
                <a:solidFill>
                  <a:srgbClr val="000000"/>
                </a:solidFill>
                <a:latin typeface="Now Bold"/>
                <a:ea typeface="Now Bold"/>
                <a:cs typeface="Now Bold"/>
                <a:sym typeface="Now Bold"/>
              </a:rPr>
              <a:t>KEY LEARNINGS:</a:t>
            </a:r>
          </a:p>
          <a:p>
            <a:pPr algn="l">
              <a:lnSpc>
                <a:spcPts val="3650"/>
              </a:lnSpc>
            </a:pPr>
            <a:r>
              <a:rPr lang="en-US" sz="2267" b="1">
                <a:solidFill>
                  <a:srgbClr val="000000"/>
                </a:solidFill>
                <a:latin typeface="Now Bold"/>
                <a:ea typeface="Now Bold"/>
                <a:cs typeface="Now Bold"/>
                <a:sym typeface="Now Bold"/>
              </a:rPr>
              <a:t>• </a:t>
            </a:r>
            <a:r>
              <a:rPr lang="en-US" sz="2267">
                <a:solidFill>
                  <a:srgbClr val="000000"/>
                </a:solidFill>
                <a:latin typeface="Now"/>
                <a:ea typeface="Now"/>
                <a:cs typeface="Now"/>
                <a:sym typeface="Now"/>
              </a:rPr>
              <a:t>Creating calculated columns and measures</a:t>
            </a:r>
          </a:p>
          <a:p>
            <a:pPr algn="l">
              <a:lnSpc>
                <a:spcPts val="3650"/>
              </a:lnSpc>
            </a:pPr>
            <a:r>
              <a:rPr lang="en-US" sz="2267">
                <a:solidFill>
                  <a:srgbClr val="000000"/>
                </a:solidFill>
                <a:latin typeface="Now"/>
                <a:ea typeface="Now"/>
                <a:cs typeface="Now"/>
                <a:sym typeface="Now"/>
              </a:rPr>
              <a:t>• Preparing a list of business metrics</a:t>
            </a:r>
          </a:p>
          <a:p>
            <a:pPr algn="l">
              <a:lnSpc>
                <a:spcPts val="3650"/>
              </a:lnSpc>
            </a:pPr>
            <a:r>
              <a:rPr lang="en-US" sz="2267">
                <a:solidFill>
                  <a:srgbClr val="000000"/>
                </a:solidFill>
                <a:latin typeface="Now"/>
                <a:ea typeface="Now"/>
                <a:cs typeface="Now"/>
                <a:sym typeface="Now"/>
              </a:rPr>
              <a:t>• Understanding filter context</a:t>
            </a:r>
          </a:p>
          <a:p>
            <a:pPr algn="l">
              <a:lnSpc>
                <a:spcPts val="3650"/>
              </a:lnSpc>
            </a:pPr>
            <a:r>
              <a:rPr lang="en-US" sz="2267">
                <a:solidFill>
                  <a:srgbClr val="000000"/>
                </a:solidFill>
                <a:latin typeface="Now"/>
                <a:ea typeface="Now"/>
                <a:cs typeface="Now"/>
                <a:sym typeface="Now"/>
              </a:rPr>
              <a:t>• Validating calculations against benchmark numbers</a:t>
            </a:r>
          </a:p>
          <a:p>
            <a:pPr algn="l">
              <a:lnSpc>
                <a:spcPts val="3650"/>
              </a:lnSpc>
            </a:pPr>
            <a:r>
              <a:rPr lang="en-US" sz="2267">
                <a:solidFill>
                  <a:srgbClr val="000000"/>
                </a:solidFill>
                <a:latin typeface="Now"/>
                <a:ea typeface="Now"/>
                <a:cs typeface="Now"/>
                <a:sym typeface="Now"/>
              </a:rPr>
              <a:t>• Using DAX Studio to examine report performance</a:t>
            </a:r>
          </a:p>
          <a:p>
            <a:pPr algn="l">
              <a:lnSpc>
                <a:spcPts val="1216"/>
              </a:lnSpc>
            </a:pPr>
            <a:endParaRPr lang="en-US" sz="2267">
              <a:solidFill>
                <a:srgbClr val="000000"/>
              </a:solidFill>
              <a:latin typeface="Now"/>
              <a:ea typeface="Now"/>
              <a:cs typeface="Now"/>
              <a:sym typeface="Now"/>
            </a:endParaRPr>
          </a:p>
          <a:p>
            <a:pPr algn="l">
              <a:lnSpc>
                <a:spcPts val="3650"/>
              </a:lnSpc>
            </a:pPr>
            <a:r>
              <a:rPr lang="en-US" sz="2267" b="1">
                <a:solidFill>
                  <a:srgbClr val="000000"/>
                </a:solidFill>
                <a:latin typeface="Now Bold"/>
                <a:ea typeface="Now Bold"/>
                <a:cs typeface="Now Bold"/>
                <a:sym typeface="Now Bold"/>
              </a:rPr>
              <a:t>EXAMPLE METRICS</a:t>
            </a:r>
          </a:p>
          <a:p>
            <a:pPr algn="l">
              <a:lnSpc>
                <a:spcPts val="3650"/>
              </a:lnSpc>
            </a:pPr>
            <a:r>
              <a:rPr lang="en-US" sz="2267" b="1">
                <a:solidFill>
                  <a:srgbClr val="000000"/>
                </a:solidFill>
                <a:latin typeface="Now Bold"/>
                <a:ea typeface="Now Bold"/>
                <a:cs typeface="Now Bold"/>
                <a:sym typeface="Now Bold"/>
              </a:rPr>
              <a:t>Net Sales | Gross Margin | Gross Margin % | Net Profit</a:t>
            </a:r>
          </a:p>
          <a:p>
            <a:pPr algn="l">
              <a:lnSpc>
                <a:spcPts val="3650"/>
              </a:lnSpc>
            </a:pPr>
            <a:endParaRPr lang="en-US" sz="2267" b="1">
              <a:solidFill>
                <a:srgbClr val="000000"/>
              </a:solidFill>
              <a:latin typeface="Now Bold"/>
              <a:ea typeface="Now Bold"/>
              <a:cs typeface="Now Bold"/>
              <a:sym typeface="Now Bold"/>
            </a:endParaRPr>
          </a:p>
          <a:p>
            <a:pPr algn="l">
              <a:lnSpc>
                <a:spcPts val="3650"/>
              </a:lnSpc>
            </a:pPr>
            <a:r>
              <a:rPr lang="en-US" sz="2267" b="1">
                <a:solidFill>
                  <a:srgbClr val="000000"/>
                </a:solidFill>
                <a:latin typeface="Now Bold"/>
                <a:ea typeface="Now Bold"/>
                <a:cs typeface="Now Bold"/>
                <a:sym typeface="Now Bold"/>
              </a:rPr>
              <a:t>KEY TAKEAWAY:</a:t>
            </a:r>
          </a:p>
          <a:p>
            <a:pPr algn="l">
              <a:lnSpc>
                <a:spcPts val="912"/>
              </a:lnSpc>
            </a:pPr>
            <a:endParaRPr lang="en-US" sz="2267" b="1">
              <a:solidFill>
                <a:srgbClr val="000000"/>
              </a:solidFill>
              <a:latin typeface="Now Bold"/>
              <a:ea typeface="Now Bold"/>
              <a:cs typeface="Now Bold"/>
              <a:sym typeface="Now Bold"/>
            </a:endParaRPr>
          </a:p>
          <a:p>
            <a:pPr algn="l">
              <a:lnSpc>
                <a:spcPts val="3650"/>
              </a:lnSpc>
            </a:pPr>
            <a:r>
              <a:rPr lang="en-US" sz="2267">
                <a:solidFill>
                  <a:srgbClr val="000000"/>
                </a:solidFill>
                <a:latin typeface="Now"/>
                <a:ea typeface="Now"/>
                <a:cs typeface="Now"/>
                <a:sym typeface="Now"/>
              </a:rPr>
              <a:t>The right calculations help turn raw data into useful business measures.</a:t>
            </a:r>
          </a:p>
          <a:p>
            <a:pPr algn="l">
              <a:lnSpc>
                <a:spcPts val="3650"/>
              </a:lnSpc>
            </a:pPr>
            <a:endParaRPr lang="en-US" sz="2267">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TextBox 10"/>
          <p:cNvSpPr txBox="1"/>
          <p:nvPr/>
        </p:nvSpPr>
        <p:spPr>
          <a:xfrm>
            <a:off x="4449620" y="1068662"/>
            <a:ext cx="10948410"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DAX &amp; Key Business Metrics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808386" y="1885946"/>
            <a:ext cx="11769012" cy="7180978"/>
          </a:xfrm>
          <a:prstGeom prst="rect">
            <a:avLst/>
          </a:prstGeom>
        </p:spPr>
        <p:txBody>
          <a:bodyPr lIns="0" tIns="0" rIns="0" bIns="0" rtlCol="0" anchor="t">
            <a:spAutoFit/>
          </a:bodyPr>
          <a:lstStyle/>
          <a:p>
            <a:pPr algn="l">
              <a:lnSpc>
                <a:spcPts val="3546"/>
              </a:lnSpc>
            </a:pPr>
            <a:r>
              <a:rPr lang="en-US" sz="2202" b="1">
                <a:solidFill>
                  <a:srgbClr val="000000"/>
                </a:solidFill>
                <a:latin typeface="Now Bold"/>
                <a:ea typeface="Now Bold"/>
                <a:cs typeface="Now Bold"/>
                <a:sym typeface="Now Bold"/>
              </a:rPr>
              <a:t>FINANCE VIEW — UNDERSTANDING PROFITABILITY</a:t>
            </a:r>
          </a:p>
          <a:p>
            <a:pPr algn="l">
              <a:lnSpc>
                <a:spcPts val="1182"/>
              </a:lnSpc>
            </a:pPr>
            <a:endParaRPr lang="en-US" sz="2202" b="1">
              <a:solidFill>
                <a:srgbClr val="000000"/>
              </a:solidFill>
              <a:latin typeface="Now Bold"/>
              <a:ea typeface="Now Bold"/>
              <a:cs typeface="Now Bold"/>
              <a:sym typeface="Now Bold"/>
            </a:endParaRPr>
          </a:p>
          <a:p>
            <a:pPr algn="l">
              <a:lnSpc>
                <a:spcPts val="3546"/>
              </a:lnSpc>
            </a:pPr>
            <a:r>
              <a:rPr lang="en-US" sz="2202" b="1">
                <a:solidFill>
                  <a:srgbClr val="000000"/>
                </a:solidFill>
                <a:latin typeface="Now Bold"/>
                <a:ea typeface="Now Bold"/>
                <a:cs typeface="Now Bold"/>
                <a:sym typeface="Now Bold"/>
              </a:rPr>
              <a:t>This view focuses on financial performance and the metrics used to understand revenue and profitability.</a:t>
            </a:r>
          </a:p>
          <a:p>
            <a:pPr algn="l">
              <a:lnSpc>
                <a:spcPts val="886"/>
              </a:lnSpc>
            </a:pPr>
            <a:endParaRPr lang="en-US" sz="2202" b="1">
              <a:solidFill>
                <a:srgbClr val="000000"/>
              </a:solidFill>
              <a:latin typeface="Now Bold"/>
              <a:ea typeface="Now Bold"/>
              <a:cs typeface="Now Bold"/>
              <a:sym typeface="Now Bold"/>
            </a:endParaRPr>
          </a:p>
          <a:p>
            <a:pPr algn="l">
              <a:lnSpc>
                <a:spcPts val="3546"/>
              </a:lnSpc>
            </a:pPr>
            <a:r>
              <a:rPr lang="en-US" sz="2202" b="1">
                <a:solidFill>
                  <a:srgbClr val="000000"/>
                </a:solidFill>
                <a:latin typeface="Now Bold"/>
                <a:ea typeface="Now Bold"/>
                <a:cs typeface="Now Bold"/>
                <a:sym typeface="Now Bold"/>
              </a:rPr>
              <a:t>KEY BUSINESS TERMS:</a:t>
            </a:r>
          </a:p>
          <a:p>
            <a:pPr algn="l">
              <a:lnSpc>
                <a:spcPts val="886"/>
              </a:lnSpc>
            </a:pPr>
            <a:endParaRPr lang="en-US" sz="2202" b="1">
              <a:solidFill>
                <a:srgbClr val="000000"/>
              </a:solidFill>
              <a:latin typeface="Now Bold"/>
              <a:ea typeface="Now Bold"/>
              <a:cs typeface="Now Bold"/>
              <a:sym typeface="Now Bold"/>
            </a:endParaRPr>
          </a:p>
          <a:p>
            <a:pPr algn="l">
              <a:lnSpc>
                <a:spcPts val="3546"/>
              </a:lnSpc>
            </a:pPr>
            <a:r>
              <a:rPr lang="en-US" sz="2202" b="1">
                <a:solidFill>
                  <a:srgbClr val="000000"/>
                </a:solidFill>
                <a:latin typeface="Now Bold"/>
                <a:ea typeface="Now Bold"/>
                <a:cs typeface="Now Bold"/>
                <a:sym typeface="Now Bold"/>
              </a:rPr>
              <a:t>• </a:t>
            </a:r>
            <a:r>
              <a:rPr lang="en-US" sz="2202">
                <a:solidFill>
                  <a:srgbClr val="000000"/>
                </a:solidFill>
                <a:latin typeface="Now"/>
                <a:ea typeface="Now"/>
                <a:cs typeface="Now"/>
                <a:sym typeface="Now"/>
              </a:rPr>
              <a:t>Gross Price</a:t>
            </a:r>
          </a:p>
          <a:p>
            <a:pPr algn="l">
              <a:lnSpc>
                <a:spcPts val="3546"/>
              </a:lnSpc>
            </a:pPr>
            <a:r>
              <a:rPr lang="en-US" sz="2202">
                <a:solidFill>
                  <a:srgbClr val="000000"/>
                </a:solidFill>
                <a:latin typeface="Now"/>
                <a:ea typeface="Now"/>
                <a:cs typeface="Now"/>
                <a:sym typeface="Now"/>
              </a:rPr>
              <a:t>• Pre-Invoice Deductions</a:t>
            </a:r>
          </a:p>
          <a:p>
            <a:pPr algn="l">
              <a:lnSpc>
                <a:spcPts val="3546"/>
              </a:lnSpc>
            </a:pPr>
            <a:r>
              <a:rPr lang="en-US" sz="2202">
                <a:solidFill>
                  <a:srgbClr val="000000"/>
                </a:solidFill>
                <a:latin typeface="Now"/>
                <a:ea typeface="Now"/>
                <a:cs typeface="Now"/>
                <a:sym typeface="Now"/>
              </a:rPr>
              <a:t>• Net Invoice Sales</a:t>
            </a:r>
          </a:p>
          <a:p>
            <a:pPr algn="l">
              <a:lnSpc>
                <a:spcPts val="3546"/>
              </a:lnSpc>
            </a:pPr>
            <a:r>
              <a:rPr lang="en-US" sz="2202">
                <a:solidFill>
                  <a:srgbClr val="000000"/>
                </a:solidFill>
                <a:latin typeface="Now"/>
                <a:ea typeface="Now"/>
                <a:cs typeface="Now"/>
                <a:sym typeface="Now"/>
              </a:rPr>
              <a:t>• Post-Invoice Deductions</a:t>
            </a:r>
          </a:p>
          <a:p>
            <a:pPr algn="l">
              <a:lnSpc>
                <a:spcPts val="3546"/>
              </a:lnSpc>
            </a:pPr>
            <a:r>
              <a:rPr lang="en-US" sz="2202">
                <a:solidFill>
                  <a:srgbClr val="000000"/>
                </a:solidFill>
                <a:latin typeface="Now"/>
                <a:ea typeface="Now"/>
                <a:cs typeface="Now"/>
                <a:sym typeface="Now"/>
              </a:rPr>
              <a:t>• Net Sales</a:t>
            </a:r>
          </a:p>
          <a:p>
            <a:pPr algn="l">
              <a:lnSpc>
                <a:spcPts val="3546"/>
              </a:lnSpc>
            </a:pPr>
            <a:r>
              <a:rPr lang="en-US" sz="2202">
                <a:solidFill>
                  <a:srgbClr val="000000"/>
                </a:solidFill>
                <a:latin typeface="Now"/>
                <a:ea typeface="Now"/>
                <a:cs typeface="Now"/>
                <a:sym typeface="Now"/>
              </a:rPr>
              <a:t>• Cost of Goods Sold (COGS)</a:t>
            </a:r>
          </a:p>
          <a:p>
            <a:pPr algn="l">
              <a:lnSpc>
                <a:spcPts val="3546"/>
              </a:lnSpc>
            </a:pPr>
            <a:r>
              <a:rPr lang="en-US" sz="2202">
                <a:solidFill>
                  <a:srgbClr val="000000"/>
                </a:solidFill>
                <a:latin typeface="Now"/>
                <a:ea typeface="Now"/>
                <a:cs typeface="Now"/>
                <a:sym typeface="Now"/>
              </a:rPr>
              <a:t>• Gross Margin and Net Profit</a:t>
            </a:r>
          </a:p>
          <a:p>
            <a:pPr algn="l">
              <a:lnSpc>
                <a:spcPts val="3546"/>
              </a:lnSpc>
            </a:pPr>
            <a:r>
              <a:rPr lang="en-US" sz="2202">
                <a:solidFill>
                  <a:srgbClr val="000000"/>
                </a:solidFill>
                <a:latin typeface="Now"/>
                <a:ea typeface="Now"/>
                <a:cs typeface="Now"/>
                <a:sym typeface="Now"/>
              </a:rPr>
              <a:t>• YTD (Year to Date) and YTG (Year to Go)</a:t>
            </a:r>
          </a:p>
          <a:p>
            <a:pPr algn="l">
              <a:lnSpc>
                <a:spcPts val="886"/>
              </a:lnSpc>
            </a:pPr>
            <a:endParaRPr lang="en-US" sz="2202">
              <a:solidFill>
                <a:srgbClr val="000000"/>
              </a:solidFill>
              <a:latin typeface="Now"/>
              <a:ea typeface="Now"/>
              <a:cs typeface="Now"/>
              <a:sym typeface="Now"/>
            </a:endParaRPr>
          </a:p>
          <a:p>
            <a:pPr algn="l">
              <a:lnSpc>
                <a:spcPts val="3546"/>
              </a:lnSpc>
            </a:pPr>
            <a:r>
              <a:rPr lang="en-US" sz="2202" b="1">
                <a:solidFill>
                  <a:srgbClr val="000000"/>
                </a:solidFill>
                <a:latin typeface="Now Bold"/>
                <a:ea typeface="Now Bold"/>
                <a:cs typeface="Now Bold"/>
                <a:sym typeface="Now Bold"/>
              </a:rPr>
              <a:t>BUSINESS PURPOSE:</a:t>
            </a:r>
          </a:p>
          <a:p>
            <a:pPr algn="l">
              <a:lnSpc>
                <a:spcPts val="3546"/>
              </a:lnSpc>
            </a:pPr>
            <a:r>
              <a:rPr lang="en-US" sz="2202">
                <a:solidFill>
                  <a:srgbClr val="000000"/>
                </a:solidFill>
                <a:latin typeface="Now"/>
                <a:ea typeface="Now"/>
                <a:cs typeface="Now"/>
                <a:sym typeface="Now"/>
              </a:rPr>
              <a:t>Help users examine financial performance using consistent metrics.</a:t>
            </a:r>
          </a:p>
          <a:p>
            <a:pPr algn="r">
              <a:lnSpc>
                <a:spcPts val="3546"/>
              </a:lnSpc>
            </a:pPr>
            <a:endParaRPr lang="en-US" sz="2202">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8794370" y="3254717"/>
            <a:ext cx="6783028" cy="3777566"/>
          </a:xfrm>
          <a:custGeom>
            <a:avLst/>
            <a:gdLst/>
            <a:ahLst/>
            <a:cxnLst/>
            <a:rect l="l" t="t" r="r" b="b"/>
            <a:pathLst>
              <a:path w="6783028" h="3777566">
                <a:moveTo>
                  <a:pt x="0" y="0"/>
                </a:moveTo>
                <a:lnTo>
                  <a:pt x="6783028" y="0"/>
                </a:lnTo>
                <a:lnTo>
                  <a:pt x="6783028" y="3777566"/>
                </a:lnTo>
                <a:lnTo>
                  <a:pt x="0" y="3777566"/>
                </a:lnTo>
                <a:lnTo>
                  <a:pt x="0" y="0"/>
                </a:lnTo>
                <a:close/>
              </a:path>
            </a:pathLst>
          </a:custGeom>
          <a:blipFill>
            <a:blip r:embed="rId9"/>
            <a:stretch>
              <a:fillRect/>
            </a:stretch>
          </a:blipFill>
        </p:spPr>
      </p:sp>
      <p:sp>
        <p:nvSpPr>
          <p:cNvPr id="11" name="TextBox 11"/>
          <p:cNvSpPr txBox="1"/>
          <p:nvPr/>
        </p:nvSpPr>
        <p:spPr>
          <a:xfrm>
            <a:off x="4691672" y="846529"/>
            <a:ext cx="9495463"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FINANCE VIEW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909035" y="2029762"/>
            <a:ext cx="13951477" cy="6927144"/>
          </a:xfrm>
          <a:prstGeom prst="rect">
            <a:avLst/>
          </a:prstGeom>
        </p:spPr>
        <p:txBody>
          <a:bodyPr lIns="0" tIns="0" rIns="0" bIns="0" rtlCol="0" anchor="t">
            <a:spAutoFit/>
          </a:bodyPr>
          <a:lstStyle/>
          <a:p>
            <a:pPr algn="l">
              <a:lnSpc>
                <a:spcPts val="4277"/>
              </a:lnSpc>
            </a:pPr>
            <a:r>
              <a:rPr lang="en-US" sz="2656" b="1">
                <a:solidFill>
                  <a:srgbClr val="000000"/>
                </a:solidFill>
                <a:latin typeface="Now Bold"/>
                <a:ea typeface="Now Bold"/>
                <a:cs typeface="Now Bold"/>
                <a:sym typeface="Now Bold"/>
              </a:rPr>
              <a:t>SALES VIEW : CUSTOMER &amp; PRODUCT PERFORMANCE</a:t>
            </a:r>
          </a:p>
          <a:p>
            <a:pPr algn="l">
              <a:lnSpc>
                <a:spcPts val="1553"/>
              </a:lnSpc>
            </a:pPr>
            <a:endParaRPr lang="en-US" sz="2656" b="1">
              <a:solidFill>
                <a:srgbClr val="000000"/>
              </a:solidFill>
              <a:latin typeface="Now Bold"/>
              <a:ea typeface="Now Bold"/>
              <a:cs typeface="Now Bold"/>
              <a:sym typeface="Now Bold"/>
            </a:endParaRPr>
          </a:p>
          <a:p>
            <a:pPr algn="l">
              <a:lnSpc>
                <a:spcPts val="4277"/>
              </a:lnSpc>
            </a:pPr>
            <a:r>
              <a:rPr lang="en-US" sz="2656" b="1">
                <a:solidFill>
                  <a:srgbClr val="000000"/>
                </a:solidFill>
                <a:latin typeface="Now Bold"/>
                <a:ea typeface="Now Bold"/>
                <a:cs typeface="Now Bold"/>
                <a:sym typeface="Now Bold"/>
              </a:rPr>
              <a:t>This view helps analyze how customers and products contribute to sales performance.</a:t>
            </a:r>
          </a:p>
          <a:p>
            <a:pPr algn="l">
              <a:lnSpc>
                <a:spcPts val="1164"/>
              </a:lnSpc>
            </a:pPr>
            <a:endParaRPr lang="en-US" sz="2656" b="1">
              <a:solidFill>
                <a:srgbClr val="000000"/>
              </a:solidFill>
              <a:latin typeface="Now Bold"/>
              <a:ea typeface="Now Bold"/>
              <a:cs typeface="Now Bold"/>
              <a:sym typeface="Now Bold"/>
            </a:endParaRPr>
          </a:p>
          <a:p>
            <a:pPr algn="l">
              <a:lnSpc>
                <a:spcPts val="4277"/>
              </a:lnSpc>
            </a:pPr>
            <a:r>
              <a:rPr lang="en-US" sz="2656" b="1">
                <a:solidFill>
                  <a:srgbClr val="000000"/>
                </a:solidFill>
                <a:latin typeface="Now Bold"/>
                <a:ea typeface="Now Bold"/>
                <a:cs typeface="Now Bold"/>
                <a:sym typeface="Now Bold"/>
              </a:rPr>
              <a:t>KEY AREAS</a:t>
            </a:r>
          </a:p>
          <a:p>
            <a:pPr algn="l">
              <a:lnSpc>
                <a:spcPts val="4277"/>
              </a:lnSpc>
            </a:pPr>
            <a:r>
              <a:rPr lang="en-US" sz="2656" b="1">
                <a:solidFill>
                  <a:srgbClr val="000000"/>
                </a:solidFill>
                <a:latin typeface="Now Bold"/>
                <a:ea typeface="Now Bold"/>
                <a:cs typeface="Now Bold"/>
                <a:sym typeface="Now Bold"/>
              </a:rPr>
              <a:t>• </a:t>
            </a:r>
            <a:r>
              <a:rPr lang="en-US" sz="2656">
                <a:solidFill>
                  <a:srgbClr val="000000"/>
                </a:solidFill>
                <a:latin typeface="Now"/>
                <a:ea typeface="Now"/>
                <a:cs typeface="Now"/>
                <a:sym typeface="Now"/>
              </a:rPr>
              <a:t>Customer performance</a:t>
            </a:r>
          </a:p>
          <a:p>
            <a:pPr algn="l">
              <a:lnSpc>
                <a:spcPts val="4277"/>
              </a:lnSpc>
            </a:pPr>
            <a:r>
              <a:rPr lang="en-US" sz="2656">
                <a:solidFill>
                  <a:srgbClr val="000000"/>
                </a:solidFill>
                <a:latin typeface="Now"/>
                <a:ea typeface="Now"/>
                <a:cs typeface="Now"/>
                <a:sym typeface="Now"/>
              </a:rPr>
              <a:t>• Product performance</a:t>
            </a:r>
          </a:p>
          <a:p>
            <a:pPr algn="l">
              <a:lnSpc>
                <a:spcPts val="4277"/>
              </a:lnSpc>
            </a:pPr>
            <a:r>
              <a:rPr lang="en-US" sz="2656">
                <a:solidFill>
                  <a:srgbClr val="000000"/>
                </a:solidFill>
                <a:latin typeface="Now"/>
                <a:ea typeface="Now"/>
                <a:cs typeface="Now"/>
                <a:sym typeface="Now"/>
              </a:rPr>
              <a:t>• Net Sales and Gross Margin %</a:t>
            </a:r>
          </a:p>
          <a:p>
            <a:pPr algn="l">
              <a:lnSpc>
                <a:spcPts val="4277"/>
              </a:lnSpc>
            </a:pPr>
            <a:r>
              <a:rPr lang="en-US" sz="2656">
                <a:solidFill>
                  <a:srgbClr val="000000"/>
                </a:solidFill>
                <a:latin typeface="Now"/>
                <a:ea typeface="Now"/>
                <a:cs typeface="Now"/>
                <a:sym typeface="Now"/>
              </a:rPr>
              <a:t>• Customer performance against GM% targets</a:t>
            </a:r>
          </a:p>
          <a:p>
            <a:pPr algn="l">
              <a:lnSpc>
                <a:spcPts val="4277"/>
              </a:lnSpc>
            </a:pPr>
            <a:r>
              <a:rPr lang="en-US" sz="2656">
                <a:solidFill>
                  <a:srgbClr val="000000"/>
                </a:solidFill>
                <a:latin typeface="Now"/>
                <a:ea typeface="Now"/>
                <a:cs typeface="Now"/>
                <a:sym typeface="Now"/>
              </a:rPr>
              <a:t>• Comparing performance across selected periods</a:t>
            </a:r>
          </a:p>
          <a:p>
            <a:pPr algn="l">
              <a:lnSpc>
                <a:spcPts val="1553"/>
              </a:lnSpc>
            </a:pPr>
            <a:endParaRPr lang="en-US" sz="2656">
              <a:solidFill>
                <a:srgbClr val="000000"/>
              </a:solidFill>
              <a:latin typeface="Now"/>
              <a:ea typeface="Now"/>
              <a:cs typeface="Now"/>
              <a:sym typeface="Now"/>
            </a:endParaRPr>
          </a:p>
          <a:p>
            <a:pPr algn="l">
              <a:lnSpc>
                <a:spcPts val="4277"/>
              </a:lnSpc>
            </a:pPr>
            <a:r>
              <a:rPr lang="en-US" sz="2656" b="1">
                <a:solidFill>
                  <a:srgbClr val="000000"/>
                </a:solidFill>
                <a:latin typeface="Now Bold"/>
                <a:ea typeface="Now Bold"/>
                <a:cs typeface="Now Bold"/>
                <a:sym typeface="Now Bold"/>
              </a:rPr>
              <a:t>BUSINESS QUESTION</a:t>
            </a:r>
          </a:p>
          <a:p>
            <a:pPr algn="l">
              <a:lnSpc>
                <a:spcPts val="4277"/>
              </a:lnSpc>
            </a:pPr>
            <a:r>
              <a:rPr lang="en-US" sz="2656">
                <a:solidFill>
                  <a:srgbClr val="000000"/>
                </a:solidFill>
                <a:latin typeface="Now"/>
                <a:ea typeface="Now"/>
                <a:cs typeface="Now"/>
                <a:sym typeface="Now"/>
              </a:rPr>
              <a:t>Are customers meeting the Gross Margin % targets?</a:t>
            </a:r>
          </a:p>
          <a:p>
            <a:pPr algn="r">
              <a:lnSpc>
                <a:spcPts val="4277"/>
              </a:lnSpc>
            </a:pPr>
            <a:endParaRPr lang="en-US" sz="2656">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0765908" y="3498159"/>
            <a:ext cx="4842952" cy="2690529"/>
          </a:xfrm>
          <a:custGeom>
            <a:avLst/>
            <a:gdLst/>
            <a:ahLst/>
            <a:cxnLst/>
            <a:rect l="l" t="t" r="r" b="b"/>
            <a:pathLst>
              <a:path w="4842952" h="2690529">
                <a:moveTo>
                  <a:pt x="0" y="0"/>
                </a:moveTo>
                <a:lnTo>
                  <a:pt x="4842951" y="0"/>
                </a:lnTo>
                <a:lnTo>
                  <a:pt x="4842951" y="2690529"/>
                </a:lnTo>
                <a:lnTo>
                  <a:pt x="0" y="2690529"/>
                </a:lnTo>
                <a:lnTo>
                  <a:pt x="0" y="0"/>
                </a:lnTo>
                <a:close/>
              </a:path>
            </a:pathLst>
          </a:custGeom>
          <a:blipFill>
            <a:blip r:embed="rId9"/>
            <a:stretch>
              <a:fillRect/>
            </a:stretch>
          </a:blipFill>
        </p:spPr>
      </p:sp>
      <p:sp>
        <p:nvSpPr>
          <p:cNvPr id="11" name="TextBox 11"/>
          <p:cNvSpPr txBox="1"/>
          <p:nvPr/>
        </p:nvSpPr>
        <p:spPr>
          <a:xfrm>
            <a:off x="4691672" y="846529"/>
            <a:ext cx="9495463"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SALES 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999031" y="2368788"/>
            <a:ext cx="12644958" cy="5866750"/>
          </a:xfrm>
          <a:prstGeom prst="rect">
            <a:avLst/>
          </a:prstGeom>
        </p:spPr>
        <p:txBody>
          <a:bodyPr lIns="0" tIns="0" rIns="0" bIns="0" rtlCol="0" anchor="t">
            <a:spAutoFit/>
          </a:bodyPr>
          <a:lstStyle/>
          <a:p>
            <a:pPr algn="l">
              <a:lnSpc>
                <a:spcPts val="3810"/>
              </a:lnSpc>
            </a:pPr>
            <a:r>
              <a:rPr lang="en-US" sz="2366" b="1">
                <a:solidFill>
                  <a:srgbClr val="000000"/>
                </a:solidFill>
                <a:latin typeface="Now Bold"/>
                <a:ea typeface="Now Bold"/>
                <a:cs typeface="Now Bold"/>
                <a:sym typeface="Now Bold"/>
              </a:rPr>
              <a:t>MARKETING VIEW: MARKET &amp; PRODUCT ANALYSIS</a:t>
            </a:r>
          </a:p>
          <a:p>
            <a:pPr algn="l">
              <a:lnSpc>
                <a:spcPts val="1383"/>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This view provides a way to explore marketing performance and profitability.</a:t>
            </a:r>
          </a:p>
          <a:p>
            <a:pPr algn="l">
              <a:lnSpc>
                <a:spcPts val="1383"/>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KEY AREAS:</a:t>
            </a:r>
          </a:p>
          <a:p>
            <a:pPr algn="l">
              <a:lnSpc>
                <a:spcPts val="3810"/>
              </a:lnSpc>
            </a:pPr>
            <a:r>
              <a:rPr lang="en-US" sz="2366" b="1">
                <a:solidFill>
                  <a:srgbClr val="000000"/>
                </a:solidFill>
                <a:latin typeface="Now Bold"/>
                <a:ea typeface="Now Bold"/>
                <a:cs typeface="Now Bold"/>
                <a:sym typeface="Now Bold"/>
              </a:rPr>
              <a:t>• </a:t>
            </a:r>
            <a:r>
              <a:rPr lang="en-US" sz="2366">
                <a:solidFill>
                  <a:srgbClr val="000000"/>
                </a:solidFill>
                <a:latin typeface="Now"/>
                <a:ea typeface="Now"/>
                <a:cs typeface="Now"/>
                <a:sym typeface="Now"/>
              </a:rPr>
              <a:t>Product performance</a:t>
            </a:r>
          </a:p>
          <a:p>
            <a:pPr algn="l">
              <a:lnSpc>
                <a:spcPts val="3810"/>
              </a:lnSpc>
            </a:pPr>
            <a:r>
              <a:rPr lang="en-US" sz="2366">
                <a:solidFill>
                  <a:srgbClr val="000000"/>
                </a:solidFill>
                <a:latin typeface="Now"/>
                <a:ea typeface="Now"/>
                <a:cs typeface="Now"/>
                <a:sym typeface="Now"/>
              </a:rPr>
              <a:t>• Market performance</a:t>
            </a:r>
          </a:p>
          <a:p>
            <a:pPr algn="l">
              <a:lnSpc>
                <a:spcPts val="3810"/>
              </a:lnSpc>
            </a:pPr>
            <a:r>
              <a:rPr lang="en-US" sz="2366">
                <a:solidFill>
                  <a:srgbClr val="000000"/>
                </a:solidFill>
                <a:latin typeface="Now"/>
                <a:ea typeface="Now"/>
                <a:cs typeface="Now"/>
                <a:sym typeface="Now"/>
              </a:rPr>
              <a:t>• Profitability analysis</a:t>
            </a:r>
          </a:p>
          <a:p>
            <a:pPr algn="l">
              <a:lnSpc>
                <a:spcPts val="3810"/>
              </a:lnSpc>
            </a:pPr>
            <a:r>
              <a:rPr lang="en-US" sz="2366">
                <a:solidFill>
                  <a:srgbClr val="000000"/>
                </a:solidFill>
                <a:latin typeface="Now"/>
                <a:ea typeface="Now"/>
                <a:cs typeface="Now"/>
                <a:sym typeface="Now"/>
              </a:rPr>
              <a:t>• Gross Margin % trends</a:t>
            </a:r>
          </a:p>
          <a:p>
            <a:pPr algn="l">
              <a:lnSpc>
                <a:spcPts val="3810"/>
              </a:lnSpc>
            </a:pPr>
            <a:r>
              <a:rPr lang="en-US" sz="2366">
                <a:solidFill>
                  <a:srgbClr val="000000"/>
                </a:solidFill>
                <a:latin typeface="Now"/>
                <a:ea typeface="Now"/>
                <a:cs typeface="Now"/>
                <a:sym typeface="Now"/>
              </a:rPr>
              <a:t>• Comparing business performance across markets</a:t>
            </a:r>
          </a:p>
          <a:p>
            <a:pPr algn="l">
              <a:lnSpc>
                <a:spcPts val="1383"/>
              </a:lnSpc>
            </a:pPr>
            <a:endParaRPr lang="en-US" sz="2366">
              <a:solidFill>
                <a:srgbClr val="000000"/>
              </a:solidFill>
              <a:latin typeface="Now"/>
              <a:ea typeface="Now"/>
              <a:cs typeface="Now"/>
              <a:sym typeface="Now"/>
            </a:endParaRPr>
          </a:p>
          <a:p>
            <a:pPr algn="l">
              <a:lnSpc>
                <a:spcPts val="3810"/>
              </a:lnSpc>
            </a:pPr>
            <a:r>
              <a:rPr lang="en-US" sz="2366" b="1">
                <a:solidFill>
                  <a:srgbClr val="000000"/>
                </a:solidFill>
                <a:latin typeface="Now Bold"/>
                <a:ea typeface="Now Bold"/>
                <a:cs typeface="Now Bold"/>
                <a:sym typeface="Now Bold"/>
              </a:rPr>
              <a:t>BUSINESS PURPOSE:</a:t>
            </a:r>
          </a:p>
          <a:p>
            <a:pPr algn="l">
              <a:lnSpc>
                <a:spcPts val="1037"/>
              </a:lnSpc>
            </a:pPr>
            <a:endParaRPr lang="en-US" sz="2366" b="1">
              <a:solidFill>
                <a:srgbClr val="000000"/>
              </a:solidFill>
              <a:latin typeface="Now Bold"/>
              <a:ea typeface="Now Bold"/>
              <a:cs typeface="Now Bold"/>
              <a:sym typeface="Now Bold"/>
            </a:endParaRPr>
          </a:p>
          <a:p>
            <a:pPr algn="l">
              <a:lnSpc>
                <a:spcPts val="3810"/>
              </a:lnSpc>
            </a:pPr>
            <a:r>
              <a:rPr lang="en-US" sz="2366">
                <a:solidFill>
                  <a:srgbClr val="000000"/>
                </a:solidFill>
                <a:latin typeface="Now"/>
                <a:ea typeface="Now"/>
                <a:cs typeface="Now"/>
                <a:sym typeface="Now"/>
              </a:rPr>
              <a:t>Understand which products and markets contribute to business performance.</a:t>
            </a:r>
          </a:p>
          <a:p>
            <a:pPr algn="r">
              <a:lnSpc>
                <a:spcPts val="3810"/>
              </a:lnSpc>
            </a:pPr>
            <a:endParaRPr lang="en-US" sz="2366">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0748099" y="4339866"/>
            <a:ext cx="4895890" cy="2725547"/>
          </a:xfrm>
          <a:custGeom>
            <a:avLst/>
            <a:gdLst/>
            <a:ahLst/>
            <a:cxnLst/>
            <a:rect l="l" t="t" r="r" b="b"/>
            <a:pathLst>
              <a:path w="4895890" h="2725547">
                <a:moveTo>
                  <a:pt x="0" y="0"/>
                </a:moveTo>
                <a:lnTo>
                  <a:pt x="4895890" y="0"/>
                </a:lnTo>
                <a:lnTo>
                  <a:pt x="4895890" y="2725547"/>
                </a:lnTo>
                <a:lnTo>
                  <a:pt x="0" y="2725547"/>
                </a:lnTo>
                <a:lnTo>
                  <a:pt x="0" y="0"/>
                </a:lnTo>
                <a:close/>
              </a:path>
            </a:pathLst>
          </a:custGeom>
          <a:blipFill>
            <a:blip r:embed="rId9"/>
            <a:stretch>
              <a:fillRect/>
            </a:stretch>
          </a:blipFill>
        </p:spPr>
      </p:sp>
      <p:sp>
        <p:nvSpPr>
          <p:cNvPr id="11" name="TextBox 11"/>
          <p:cNvSpPr txBox="1"/>
          <p:nvPr/>
        </p:nvSpPr>
        <p:spPr>
          <a:xfrm>
            <a:off x="4691672" y="846529"/>
            <a:ext cx="9495463"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Marketing View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999031" y="2420568"/>
            <a:ext cx="12644958" cy="5763190"/>
          </a:xfrm>
          <a:prstGeom prst="rect">
            <a:avLst/>
          </a:prstGeom>
        </p:spPr>
        <p:txBody>
          <a:bodyPr lIns="0" tIns="0" rIns="0" bIns="0" rtlCol="0" anchor="t">
            <a:spAutoFit/>
          </a:bodyPr>
          <a:lstStyle/>
          <a:p>
            <a:pPr algn="l">
              <a:lnSpc>
                <a:spcPts val="3810"/>
              </a:lnSpc>
            </a:pPr>
            <a:r>
              <a:rPr lang="en-US" sz="2366" b="1">
                <a:solidFill>
                  <a:srgbClr val="000000"/>
                </a:solidFill>
                <a:latin typeface="Now Bold"/>
                <a:ea typeface="Now Bold"/>
                <a:cs typeface="Now Bold"/>
                <a:sym typeface="Now Bold"/>
              </a:rPr>
              <a:t>SUPPLY CHAIN VIEW:  FORECAST PERFORMANCE</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This view focuses on forecast accuracy and supply chain-related metrics.</a:t>
            </a:r>
          </a:p>
          <a:p>
            <a:pPr algn="l">
              <a:lnSpc>
                <a:spcPts val="3810"/>
              </a:lnSpc>
            </a:pPr>
            <a:r>
              <a:rPr lang="en-US" sz="2366" b="1">
                <a:solidFill>
                  <a:srgbClr val="000000"/>
                </a:solidFill>
                <a:latin typeface="Now Bold"/>
                <a:ea typeface="Now Bold"/>
                <a:cs typeface="Now Bold"/>
                <a:sym typeface="Now Bold"/>
              </a:rPr>
              <a:t>KEY AREAS:</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 </a:t>
            </a:r>
            <a:r>
              <a:rPr lang="en-US" sz="2366">
                <a:solidFill>
                  <a:srgbClr val="000000"/>
                </a:solidFill>
                <a:latin typeface="Now"/>
                <a:ea typeface="Now"/>
                <a:cs typeface="Now"/>
                <a:sym typeface="Now"/>
              </a:rPr>
              <a:t>Forecast accuracy</a:t>
            </a:r>
          </a:p>
          <a:p>
            <a:pPr algn="l">
              <a:lnSpc>
                <a:spcPts val="3810"/>
              </a:lnSpc>
            </a:pPr>
            <a:r>
              <a:rPr lang="en-US" sz="2366">
                <a:solidFill>
                  <a:srgbClr val="000000"/>
                </a:solidFill>
                <a:latin typeface="Now"/>
                <a:ea typeface="Now"/>
                <a:cs typeface="Now"/>
                <a:sym typeface="Now"/>
              </a:rPr>
              <a:t>• Net error</a:t>
            </a:r>
          </a:p>
          <a:p>
            <a:pPr algn="l">
              <a:lnSpc>
                <a:spcPts val="3810"/>
              </a:lnSpc>
            </a:pPr>
            <a:r>
              <a:rPr lang="en-US" sz="2366">
                <a:solidFill>
                  <a:srgbClr val="000000"/>
                </a:solidFill>
                <a:latin typeface="Now"/>
                <a:ea typeface="Now"/>
                <a:cs typeface="Now"/>
                <a:sym typeface="Now"/>
              </a:rPr>
              <a:t>• Forecast performance trends</a:t>
            </a:r>
          </a:p>
          <a:p>
            <a:pPr algn="l">
              <a:lnSpc>
                <a:spcPts val="3810"/>
              </a:lnSpc>
            </a:pPr>
            <a:r>
              <a:rPr lang="en-US" sz="2366">
                <a:solidFill>
                  <a:srgbClr val="000000"/>
                </a:solidFill>
                <a:latin typeface="Now"/>
                <a:ea typeface="Now"/>
                <a:cs typeface="Now"/>
                <a:sym typeface="Now"/>
              </a:rPr>
              <a:t>• Identifying areas that may need attention</a:t>
            </a:r>
          </a:p>
          <a:p>
            <a:pPr algn="l">
              <a:lnSpc>
                <a:spcPts val="3810"/>
              </a:lnSpc>
            </a:pPr>
            <a:endParaRPr lang="en-US" sz="2366">
              <a:solidFill>
                <a:srgbClr val="000000"/>
              </a:solidFill>
              <a:latin typeface="Now"/>
              <a:ea typeface="Now"/>
              <a:cs typeface="Now"/>
              <a:sym typeface="Now"/>
            </a:endParaRPr>
          </a:p>
          <a:p>
            <a:pPr algn="l">
              <a:lnSpc>
                <a:spcPts val="3810"/>
              </a:lnSpc>
            </a:pPr>
            <a:r>
              <a:rPr lang="en-US" sz="2366" b="1">
                <a:solidFill>
                  <a:srgbClr val="000000"/>
                </a:solidFill>
                <a:latin typeface="Now Bold"/>
                <a:ea typeface="Now Bold"/>
                <a:cs typeface="Now Bold"/>
                <a:sym typeface="Now Bold"/>
              </a:rPr>
              <a:t>BUSINESS PURPOSE:</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a:solidFill>
                  <a:srgbClr val="000000"/>
                </a:solidFill>
                <a:latin typeface="Now"/>
                <a:ea typeface="Now"/>
                <a:cs typeface="Now"/>
                <a:sym typeface="Now"/>
              </a:rPr>
              <a:t>Help teams understand forecast performance and support better planning.</a:t>
            </a:r>
          </a:p>
          <a:p>
            <a:pPr algn="r">
              <a:lnSpc>
                <a:spcPts val="3810"/>
              </a:lnSpc>
            </a:pPr>
            <a:endParaRPr lang="en-US" sz="2366">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9684333" y="3692768"/>
            <a:ext cx="5959656" cy="3314041"/>
          </a:xfrm>
          <a:custGeom>
            <a:avLst/>
            <a:gdLst/>
            <a:ahLst/>
            <a:cxnLst/>
            <a:rect l="l" t="t" r="r" b="b"/>
            <a:pathLst>
              <a:path w="5959656" h="3314041">
                <a:moveTo>
                  <a:pt x="0" y="0"/>
                </a:moveTo>
                <a:lnTo>
                  <a:pt x="5959656" y="0"/>
                </a:lnTo>
                <a:lnTo>
                  <a:pt x="5959656" y="3314041"/>
                </a:lnTo>
                <a:lnTo>
                  <a:pt x="0" y="3314041"/>
                </a:lnTo>
                <a:lnTo>
                  <a:pt x="0" y="0"/>
                </a:lnTo>
                <a:close/>
              </a:path>
            </a:pathLst>
          </a:custGeom>
          <a:blipFill>
            <a:blip r:embed="rId9"/>
            <a:stretch>
              <a:fillRect/>
            </a:stretch>
          </a:blipFill>
        </p:spPr>
      </p:sp>
      <p:sp>
        <p:nvSpPr>
          <p:cNvPr id="11" name="TextBox 11"/>
          <p:cNvSpPr txBox="1"/>
          <p:nvPr/>
        </p:nvSpPr>
        <p:spPr>
          <a:xfrm>
            <a:off x="4296417" y="846529"/>
            <a:ext cx="11630611"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SUPPLY CHAIN VIEW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999031" y="2223712"/>
            <a:ext cx="12644958" cy="6156903"/>
          </a:xfrm>
          <a:prstGeom prst="rect">
            <a:avLst/>
          </a:prstGeom>
        </p:spPr>
        <p:txBody>
          <a:bodyPr lIns="0" tIns="0" rIns="0" bIns="0" rtlCol="0" anchor="t">
            <a:spAutoFit/>
          </a:bodyPr>
          <a:lstStyle/>
          <a:p>
            <a:pPr algn="l">
              <a:lnSpc>
                <a:spcPts val="3810"/>
              </a:lnSpc>
            </a:pPr>
            <a:r>
              <a:rPr lang="en-US" sz="2366" b="1">
                <a:solidFill>
                  <a:srgbClr val="000000"/>
                </a:solidFill>
                <a:latin typeface="Now Bold"/>
                <a:ea typeface="Now Bold"/>
                <a:cs typeface="Now Bold"/>
                <a:sym typeface="Now Bold"/>
              </a:rPr>
              <a:t>EXECUTIVE VIEW : THE BIGGER PICTURE</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The Executive View brings key business indicators together to provide a high-level overview of performance.</a:t>
            </a:r>
          </a:p>
          <a:p>
            <a:pPr algn="l">
              <a:lnSpc>
                <a:spcPts val="965"/>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KEY AREAS:</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 </a:t>
            </a:r>
            <a:r>
              <a:rPr lang="en-US" sz="2366">
                <a:solidFill>
                  <a:srgbClr val="000000"/>
                </a:solidFill>
                <a:latin typeface="Now"/>
                <a:ea typeface="Now"/>
                <a:cs typeface="Now"/>
                <a:sym typeface="Now"/>
              </a:rPr>
              <a:t>Overall business performance</a:t>
            </a:r>
          </a:p>
          <a:p>
            <a:pPr algn="l">
              <a:lnSpc>
                <a:spcPts val="3810"/>
              </a:lnSpc>
            </a:pPr>
            <a:r>
              <a:rPr lang="en-US" sz="2366">
                <a:solidFill>
                  <a:srgbClr val="000000"/>
                </a:solidFill>
                <a:latin typeface="Now"/>
                <a:ea typeface="Now"/>
                <a:cs typeface="Now"/>
                <a:sym typeface="Now"/>
              </a:rPr>
              <a:t>• Important KPIs</a:t>
            </a:r>
          </a:p>
          <a:p>
            <a:pPr algn="l">
              <a:lnSpc>
                <a:spcPts val="3810"/>
              </a:lnSpc>
            </a:pPr>
            <a:r>
              <a:rPr lang="en-US" sz="2366">
                <a:solidFill>
                  <a:srgbClr val="000000"/>
                </a:solidFill>
                <a:latin typeface="Now"/>
                <a:ea typeface="Now"/>
                <a:cs typeface="Now"/>
                <a:sym typeface="Now"/>
              </a:rPr>
              <a:t>• Sales and profitability trends</a:t>
            </a:r>
          </a:p>
          <a:p>
            <a:pPr algn="l">
              <a:lnSpc>
                <a:spcPts val="3810"/>
              </a:lnSpc>
            </a:pPr>
            <a:r>
              <a:rPr lang="en-US" sz="2366">
                <a:solidFill>
                  <a:srgbClr val="000000"/>
                </a:solidFill>
                <a:latin typeface="Now"/>
                <a:ea typeface="Now"/>
                <a:cs typeface="Now"/>
                <a:sym typeface="Now"/>
              </a:rPr>
              <a:t>• High-level comparisons across business areas</a:t>
            </a:r>
          </a:p>
          <a:p>
            <a:pPr algn="l">
              <a:lnSpc>
                <a:spcPts val="965"/>
              </a:lnSpc>
            </a:pPr>
            <a:endParaRPr lang="en-US" sz="2366">
              <a:solidFill>
                <a:srgbClr val="000000"/>
              </a:solidFill>
              <a:latin typeface="Now"/>
              <a:ea typeface="Now"/>
              <a:cs typeface="Now"/>
              <a:sym typeface="Now"/>
            </a:endParaRPr>
          </a:p>
          <a:p>
            <a:pPr algn="l">
              <a:lnSpc>
                <a:spcPts val="1287"/>
              </a:lnSpc>
            </a:pPr>
            <a:endParaRPr lang="en-US" sz="2366">
              <a:solidFill>
                <a:srgbClr val="000000"/>
              </a:solidFill>
              <a:latin typeface="Now"/>
              <a:ea typeface="Now"/>
              <a:cs typeface="Now"/>
              <a:sym typeface="Now"/>
            </a:endParaRPr>
          </a:p>
          <a:p>
            <a:pPr algn="l">
              <a:lnSpc>
                <a:spcPts val="3810"/>
              </a:lnSpc>
            </a:pPr>
            <a:r>
              <a:rPr lang="en-US" sz="2366" b="1">
                <a:solidFill>
                  <a:srgbClr val="000000"/>
                </a:solidFill>
                <a:latin typeface="Now Bold"/>
                <a:ea typeface="Now Bold"/>
                <a:cs typeface="Now Bold"/>
                <a:sym typeface="Now Bold"/>
              </a:rPr>
              <a:t>BUSINESS PURPOSE:</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a:solidFill>
                  <a:srgbClr val="000000"/>
                </a:solidFill>
                <a:latin typeface="Now"/>
                <a:ea typeface="Now"/>
                <a:cs typeface="Now"/>
                <a:sym typeface="Now"/>
              </a:rPr>
              <a:t>Help teams understand forecast performance and support better planning.</a:t>
            </a:r>
          </a:p>
          <a:p>
            <a:pPr algn="r">
              <a:lnSpc>
                <a:spcPts val="3810"/>
              </a:lnSpc>
            </a:pPr>
            <a:endParaRPr lang="en-US" sz="2366">
              <a:solidFill>
                <a:srgbClr val="000000"/>
              </a:solidFill>
              <a:latin typeface="Now"/>
              <a:ea typeface="Now"/>
              <a:cs typeface="Now"/>
              <a:sym typeface="Now"/>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10250636" y="3849937"/>
            <a:ext cx="5393353" cy="2999703"/>
          </a:xfrm>
          <a:custGeom>
            <a:avLst/>
            <a:gdLst/>
            <a:ahLst/>
            <a:cxnLst/>
            <a:rect l="l" t="t" r="r" b="b"/>
            <a:pathLst>
              <a:path w="5393353" h="2999703">
                <a:moveTo>
                  <a:pt x="0" y="0"/>
                </a:moveTo>
                <a:lnTo>
                  <a:pt x="5393353" y="0"/>
                </a:lnTo>
                <a:lnTo>
                  <a:pt x="5393353" y="2999703"/>
                </a:lnTo>
                <a:lnTo>
                  <a:pt x="0" y="2999703"/>
                </a:lnTo>
                <a:lnTo>
                  <a:pt x="0" y="0"/>
                </a:lnTo>
                <a:close/>
              </a:path>
            </a:pathLst>
          </a:custGeom>
          <a:blipFill>
            <a:blip r:embed="rId9"/>
            <a:stretch>
              <a:fillRect/>
            </a:stretch>
          </a:blipFill>
        </p:spPr>
      </p:sp>
      <p:sp>
        <p:nvSpPr>
          <p:cNvPr id="11" name="TextBox 11"/>
          <p:cNvSpPr txBox="1"/>
          <p:nvPr/>
        </p:nvSpPr>
        <p:spPr>
          <a:xfrm>
            <a:off x="4296417" y="846529"/>
            <a:ext cx="11630611" cy="843743"/>
          </a:xfrm>
          <a:prstGeom prst="rect">
            <a:avLst/>
          </a:prstGeom>
        </p:spPr>
        <p:txBody>
          <a:bodyPr lIns="0" tIns="0" rIns="0" bIns="0" rtlCol="0" anchor="t">
            <a:spAutoFit/>
          </a:bodyPr>
          <a:lstStyle/>
          <a:p>
            <a:pPr algn="ctr">
              <a:lnSpc>
                <a:spcPts val="5540"/>
              </a:lnSpc>
            </a:pPr>
            <a:r>
              <a:rPr lang="en-US" sz="6756">
                <a:solidFill>
                  <a:srgbClr val="000000"/>
                </a:solidFill>
                <a:latin typeface="Bryndan Write"/>
                <a:ea typeface="Bryndan Write"/>
                <a:cs typeface="Bryndan Write"/>
                <a:sym typeface="Bryndan Write"/>
              </a:rPr>
              <a:t>Executive View</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4845849" y="-1822879"/>
            <a:ext cx="8829753" cy="13332604"/>
          </a:xfrm>
          <a:custGeom>
            <a:avLst/>
            <a:gdLst/>
            <a:ahLst/>
            <a:cxnLst/>
            <a:rect l="l" t="t" r="r" b="b"/>
            <a:pathLst>
              <a:path w="8829753" h="13332604">
                <a:moveTo>
                  <a:pt x="0" y="0"/>
                </a:moveTo>
                <a:lnTo>
                  <a:pt x="8829753" y="0"/>
                </a:lnTo>
                <a:lnTo>
                  <a:pt x="8829753" y="13332605"/>
                </a:lnTo>
                <a:lnTo>
                  <a:pt x="0" y="13332605"/>
                </a:lnTo>
                <a:lnTo>
                  <a:pt x="0" y="0"/>
                </a:lnTo>
                <a:close/>
              </a:path>
            </a:pathLst>
          </a:custGeom>
          <a:blipFill>
            <a:blip r:embed="rId3"/>
            <a:stretch>
              <a:fillRect t="-1115" r="-22143" b="-3939"/>
            </a:stretch>
          </a:blipFill>
        </p:spPr>
      </p:sp>
      <p:sp>
        <p:nvSpPr>
          <p:cNvPr id="4" name="Freeform 4"/>
          <p:cNvSpPr/>
          <p:nvPr/>
        </p:nvSpPr>
        <p:spPr>
          <a:xfrm>
            <a:off x="16128883" y="-542951"/>
            <a:ext cx="4947445" cy="1942997"/>
          </a:xfrm>
          <a:custGeom>
            <a:avLst/>
            <a:gdLst/>
            <a:ahLst/>
            <a:cxnLst/>
            <a:rect l="l" t="t" r="r" b="b"/>
            <a:pathLst>
              <a:path w="4947445" h="1942997">
                <a:moveTo>
                  <a:pt x="0" y="0"/>
                </a:moveTo>
                <a:lnTo>
                  <a:pt x="4947445" y="0"/>
                </a:lnTo>
                <a:lnTo>
                  <a:pt x="4947445" y="1942997"/>
                </a:lnTo>
                <a:lnTo>
                  <a:pt x="0" y="194299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1680835">
            <a:off x="2595876" y="931093"/>
            <a:ext cx="1364676" cy="937905"/>
          </a:xfrm>
          <a:custGeom>
            <a:avLst/>
            <a:gdLst/>
            <a:ahLst/>
            <a:cxnLst/>
            <a:rect l="l" t="t" r="r" b="b"/>
            <a:pathLst>
              <a:path w="1364676" h="937905">
                <a:moveTo>
                  <a:pt x="0" y="0"/>
                </a:moveTo>
                <a:lnTo>
                  <a:pt x="1364676" y="0"/>
                </a:lnTo>
                <a:lnTo>
                  <a:pt x="1364676" y="937905"/>
                </a:lnTo>
                <a:lnTo>
                  <a:pt x="0" y="937905"/>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886740" y="7945113"/>
            <a:ext cx="3281277" cy="3239516"/>
          </a:xfrm>
          <a:custGeom>
            <a:avLst/>
            <a:gdLst/>
            <a:ahLst/>
            <a:cxnLst/>
            <a:rect l="l" t="t" r="r" b="b"/>
            <a:pathLst>
              <a:path w="3281277" h="3239516">
                <a:moveTo>
                  <a:pt x="0" y="0"/>
                </a:moveTo>
                <a:lnTo>
                  <a:pt x="3281278" y="0"/>
                </a:lnTo>
                <a:lnTo>
                  <a:pt x="3281278" y="3239516"/>
                </a:lnTo>
                <a:lnTo>
                  <a:pt x="0" y="3239516"/>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386262" y="-542951"/>
            <a:ext cx="2280323" cy="3143302"/>
          </a:xfrm>
          <a:custGeom>
            <a:avLst/>
            <a:gdLst/>
            <a:ahLst/>
            <a:cxnLst/>
            <a:rect l="l" t="t" r="r" b="b"/>
            <a:pathLst>
              <a:path w="2280323" h="3143302">
                <a:moveTo>
                  <a:pt x="0" y="0"/>
                </a:moveTo>
                <a:lnTo>
                  <a:pt x="2280322" y="0"/>
                </a:lnTo>
                <a:lnTo>
                  <a:pt x="2280322" y="3143302"/>
                </a:lnTo>
                <a:lnTo>
                  <a:pt x="0" y="3143302"/>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282070" y="2039287"/>
            <a:ext cx="12644958" cy="6822383"/>
          </a:xfrm>
          <a:prstGeom prst="rect">
            <a:avLst/>
          </a:prstGeom>
        </p:spPr>
        <p:txBody>
          <a:bodyPr lIns="0" tIns="0" rIns="0" bIns="0" rtlCol="0" anchor="t">
            <a:spAutoFit/>
          </a:bodyPr>
          <a:lstStyle/>
          <a:p>
            <a:pPr algn="l">
              <a:lnSpc>
                <a:spcPts val="3810"/>
              </a:lnSpc>
            </a:pPr>
            <a:r>
              <a:rPr lang="en-US" sz="2366" b="1">
                <a:solidFill>
                  <a:srgbClr val="000000"/>
                </a:solidFill>
                <a:latin typeface="Now Bold"/>
                <a:ea typeface="Now Bold"/>
                <a:cs typeface="Now Bold"/>
                <a:sym typeface="Now Bold"/>
              </a:rPr>
              <a:t>MAKING REPORTS INTERACTIVE AND ACCESSIBLE</a:t>
            </a:r>
          </a:p>
          <a:p>
            <a:pPr algn="l">
              <a:lnSpc>
                <a:spcPts val="1287"/>
              </a:lnSpc>
            </a:pPr>
            <a:endParaRPr lang="en-US" sz="2366" b="1">
              <a:solidFill>
                <a:srgbClr val="000000"/>
              </a:solidFill>
              <a:latin typeface="Now Bold"/>
              <a:ea typeface="Now Bold"/>
              <a:cs typeface="Now Bold"/>
              <a:sym typeface="Now Bold"/>
            </a:endParaRPr>
          </a:p>
          <a:p>
            <a:pPr algn="l">
              <a:lnSpc>
                <a:spcPts val="3810"/>
              </a:lnSpc>
            </a:pPr>
            <a:r>
              <a:rPr lang="en-US" sz="2366" b="1">
                <a:solidFill>
                  <a:srgbClr val="000000"/>
                </a:solidFill>
                <a:latin typeface="Now Bold"/>
                <a:ea typeface="Now Bold"/>
                <a:cs typeface="Now Bold"/>
                <a:sym typeface="Now Bold"/>
              </a:rPr>
              <a:t>POWER BI TECHNIQUES:</a:t>
            </a:r>
          </a:p>
          <a:p>
            <a:pPr algn="l">
              <a:lnSpc>
                <a:spcPts val="965"/>
              </a:lnSpc>
            </a:pPr>
            <a:endParaRPr lang="en-US" sz="2366" b="1">
              <a:solidFill>
                <a:srgbClr val="000000"/>
              </a:solidFill>
              <a:latin typeface="Now Bold"/>
              <a:ea typeface="Now Bold"/>
              <a:cs typeface="Now Bold"/>
              <a:sym typeface="Now Bold"/>
            </a:endParaRPr>
          </a:p>
          <a:p>
            <a:pPr algn="l">
              <a:lnSpc>
                <a:spcPts val="3971"/>
              </a:lnSpc>
            </a:pPr>
            <a:r>
              <a:rPr lang="en-US" sz="2466" b="1">
                <a:solidFill>
                  <a:srgbClr val="000000"/>
                </a:solidFill>
                <a:latin typeface="Now Bold"/>
                <a:ea typeface="Now Bold"/>
                <a:cs typeface="Now Bold"/>
                <a:sym typeface="Now Bold"/>
              </a:rPr>
              <a:t>• </a:t>
            </a:r>
            <a:r>
              <a:rPr lang="en-US" sz="2466">
                <a:solidFill>
                  <a:srgbClr val="000000"/>
                </a:solidFill>
                <a:latin typeface="Now"/>
                <a:ea typeface="Now"/>
                <a:cs typeface="Now"/>
                <a:sym typeface="Now"/>
              </a:rPr>
              <a:t>Bookmarks to switch between visuals</a:t>
            </a:r>
          </a:p>
          <a:p>
            <a:pPr algn="l">
              <a:lnSpc>
                <a:spcPts val="3971"/>
              </a:lnSpc>
            </a:pPr>
            <a:r>
              <a:rPr lang="en-US" sz="2466">
                <a:solidFill>
                  <a:srgbClr val="000000"/>
                </a:solidFill>
                <a:latin typeface="Now"/>
                <a:ea typeface="Now"/>
                <a:cs typeface="Now"/>
                <a:sym typeface="Now"/>
              </a:rPr>
              <a:t>• Page navigation buttons</a:t>
            </a:r>
          </a:p>
          <a:p>
            <a:pPr algn="l">
              <a:lnSpc>
                <a:spcPts val="3971"/>
              </a:lnSpc>
            </a:pPr>
            <a:r>
              <a:rPr lang="en-US" sz="2466">
                <a:solidFill>
                  <a:srgbClr val="000000"/>
                </a:solidFill>
                <a:latin typeface="Now"/>
                <a:ea typeface="Now"/>
                <a:cs typeface="Now"/>
                <a:sym typeface="Now"/>
              </a:rPr>
              <a:t>• Dynamic titles based on applied filters</a:t>
            </a:r>
          </a:p>
          <a:p>
            <a:pPr algn="l">
              <a:lnSpc>
                <a:spcPts val="3971"/>
              </a:lnSpc>
            </a:pPr>
            <a:r>
              <a:rPr lang="en-US" sz="2466">
                <a:solidFill>
                  <a:srgbClr val="000000"/>
                </a:solidFill>
                <a:latin typeface="Now"/>
                <a:ea typeface="Now"/>
                <a:cs typeface="Now"/>
                <a:sym typeface="Now"/>
              </a:rPr>
              <a:t>• KPI indicators</a:t>
            </a:r>
          </a:p>
          <a:p>
            <a:pPr algn="l">
              <a:lnSpc>
                <a:spcPts val="3971"/>
              </a:lnSpc>
            </a:pPr>
            <a:r>
              <a:rPr lang="en-US" sz="2466">
                <a:solidFill>
                  <a:srgbClr val="000000"/>
                </a:solidFill>
                <a:latin typeface="Now"/>
                <a:ea typeface="Now"/>
                <a:cs typeface="Now"/>
                <a:sym typeface="Now"/>
              </a:rPr>
              <a:t>• Conditional formatting</a:t>
            </a:r>
          </a:p>
          <a:p>
            <a:pPr algn="l">
              <a:lnSpc>
                <a:spcPts val="3971"/>
              </a:lnSpc>
            </a:pPr>
            <a:r>
              <a:rPr lang="en-US" sz="2466">
                <a:solidFill>
                  <a:srgbClr val="000000"/>
                </a:solidFill>
                <a:latin typeface="Now"/>
                <a:ea typeface="Now"/>
                <a:cs typeface="Now"/>
                <a:sym typeface="Now"/>
              </a:rPr>
              <a:t>• Report publishing through Power BI Service</a:t>
            </a:r>
          </a:p>
          <a:p>
            <a:pPr algn="l">
              <a:lnSpc>
                <a:spcPts val="3971"/>
              </a:lnSpc>
            </a:pPr>
            <a:r>
              <a:rPr lang="en-US" sz="2466">
                <a:solidFill>
                  <a:srgbClr val="000000"/>
                </a:solidFill>
                <a:latin typeface="Now"/>
                <a:ea typeface="Now"/>
                <a:cs typeface="Now"/>
                <a:sym typeface="Now"/>
              </a:rPr>
              <a:t>• Personal gateway and scheduled refresh concepts</a:t>
            </a:r>
          </a:p>
          <a:p>
            <a:pPr algn="l">
              <a:lnSpc>
                <a:spcPts val="1287"/>
              </a:lnSpc>
            </a:pPr>
            <a:endParaRPr lang="en-US" sz="2466">
              <a:solidFill>
                <a:srgbClr val="000000"/>
              </a:solidFill>
              <a:latin typeface="Now"/>
              <a:ea typeface="Now"/>
              <a:cs typeface="Now"/>
              <a:sym typeface="Now"/>
            </a:endParaRPr>
          </a:p>
          <a:p>
            <a:pPr algn="l">
              <a:lnSpc>
                <a:spcPts val="3810"/>
              </a:lnSpc>
            </a:pPr>
            <a:r>
              <a:rPr lang="en-US" sz="2366" b="1">
                <a:solidFill>
                  <a:srgbClr val="000000"/>
                </a:solidFill>
                <a:latin typeface="Now Bold"/>
                <a:ea typeface="Now Bold"/>
                <a:cs typeface="Now Bold"/>
                <a:sym typeface="Now Bold"/>
              </a:rPr>
              <a:t>KEY TAKEAWAY</a:t>
            </a:r>
          </a:p>
          <a:p>
            <a:pPr algn="l">
              <a:lnSpc>
                <a:spcPts val="3810"/>
              </a:lnSpc>
            </a:pPr>
            <a:r>
              <a:rPr lang="en-US" sz="2366" b="1">
                <a:solidFill>
                  <a:srgbClr val="000000"/>
                </a:solidFill>
                <a:latin typeface="Now Bold"/>
                <a:ea typeface="Now Bold"/>
                <a:cs typeface="Now Bold"/>
                <a:sym typeface="Now Bold"/>
              </a:rPr>
              <a:t>Reports should be easy to navigate, understand and maintain.</a:t>
            </a:r>
          </a:p>
          <a:p>
            <a:pPr algn="l">
              <a:lnSpc>
                <a:spcPts val="3810"/>
              </a:lnSpc>
            </a:pPr>
            <a:endParaRPr lang="en-US" sz="2366" b="1">
              <a:solidFill>
                <a:srgbClr val="000000"/>
              </a:solidFill>
              <a:latin typeface="Now Bold"/>
              <a:ea typeface="Now Bold"/>
              <a:cs typeface="Now Bold"/>
              <a:sym typeface="Now Bold"/>
            </a:endParaRPr>
          </a:p>
          <a:p>
            <a:pPr algn="r">
              <a:lnSpc>
                <a:spcPts val="3810"/>
              </a:lnSpc>
            </a:pPr>
            <a:endParaRPr lang="en-US" sz="2366" b="1">
              <a:solidFill>
                <a:srgbClr val="000000"/>
              </a:solidFill>
              <a:latin typeface="Now Bold"/>
              <a:ea typeface="Now Bold"/>
              <a:cs typeface="Now Bold"/>
              <a:sym typeface="Now Bold"/>
            </a:endParaRPr>
          </a:p>
        </p:txBody>
      </p:sp>
      <p:sp>
        <p:nvSpPr>
          <p:cNvPr id="9" name="Freeform 9"/>
          <p:cNvSpPr/>
          <p:nvPr/>
        </p:nvSpPr>
        <p:spPr>
          <a:xfrm rot="-10800000">
            <a:off x="16322283" y="7945113"/>
            <a:ext cx="2280323" cy="3143302"/>
          </a:xfrm>
          <a:custGeom>
            <a:avLst/>
            <a:gdLst/>
            <a:ahLst/>
            <a:cxnLst/>
            <a:rect l="l" t="t" r="r" b="b"/>
            <a:pathLst>
              <a:path w="2280323" h="3143302">
                <a:moveTo>
                  <a:pt x="0" y="0"/>
                </a:moveTo>
                <a:lnTo>
                  <a:pt x="2280323" y="0"/>
                </a:lnTo>
                <a:lnTo>
                  <a:pt x="2280323" y="3143302"/>
                </a:lnTo>
                <a:lnTo>
                  <a:pt x="0" y="314330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9867879" y="2600351"/>
            <a:ext cx="5542852" cy="3095020"/>
          </a:xfrm>
          <a:custGeom>
            <a:avLst/>
            <a:gdLst/>
            <a:ahLst/>
            <a:cxnLst/>
            <a:rect l="l" t="t" r="r" b="b"/>
            <a:pathLst>
              <a:path w="5542852" h="3095020">
                <a:moveTo>
                  <a:pt x="0" y="0"/>
                </a:moveTo>
                <a:lnTo>
                  <a:pt x="5542852" y="0"/>
                </a:lnTo>
                <a:lnTo>
                  <a:pt x="5542852" y="3095020"/>
                </a:lnTo>
                <a:lnTo>
                  <a:pt x="0" y="3095020"/>
                </a:lnTo>
                <a:lnTo>
                  <a:pt x="0" y="0"/>
                </a:lnTo>
                <a:close/>
              </a:path>
            </a:pathLst>
          </a:custGeom>
          <a:blipFill>
            <a:blip r:embed="rId9"/>
            <a:stretch>
              <a:fillRect/>
            </a:stretch>
          </a:blipFill>
        </p:spPr>
      </p:sp>
      <p:sp>
        <p:nvSpPr>
          <p:cNvPr id="11" name="TextBox 11"/>
          <p:cNvSpPr txBox="1"/>
          <p:nvPr/>
        </p:nvSpPr>
        <p:spPr>
          <a:xfrm>
            <a:off x="4140249" y="817954"/>
            <a:ext cx="11455259" cy="749460"/>
          </a:xfrm>
          <a:prstGeom prst="rect">
            <a:avLst/>
          </a:prstGeom>
        </p:spPr>
        <p:txBody>
          <a:bodyPr lIns="0" tIns="0" rIns="0" bIns="0" rtlCol="0" anchor="t">
            <a:spAutoFit/>
          </a:bodyPr>
          <a:lstStyle/>
          <a:p>
            <a:pPr algn="ctr">
              <a:lnSpc>
                <a:spcPts val="4876"/>
              </a:lnSpc>
            </a:pPr>
            <a:r>
              <a:rPr lang="en-US" sz="5946">
                <a:solidFill>
                  <a:srgbClr val="000000"/>
                </a:solidFill>
                <a:latin typeface="Bryndan Write"/>
                <a:ea typeface="Bryndan Write"/>
                <a:cs typeface="Bryndan Write"/>
                <a:sym typeface="Bryndan Write"/>
              </a:rPr>
              <a:t> Interactive Reporting &amp; Publishing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5400000">
            <a:off x="5156229" y="-1110532"/>
            <a:ext cx="7162508" cy="13159138"/>
          </a:xfrm>
          <a:custGeom>
            <a:avLst/>
            <a:gdLst/>
            <a:ahLst/>
            <a:cxnLst/>
            <a:rect l="l" t="t" r="r" b="b"/>
            <a:pathLst>
              <a:path w="7162508" h="13159138">
                <a:moveTo>
                  <a:pt x="0" y="0"/>
                </a:moveTo>
                <a:lnTo>
                  <a:pt x="7162508" y="0"/>
                </a:lnTo>
                <a:lnTo>
                  <a:pt x="7162508" y="13159138"/>
                </a:lnTo>
                <a:lnTo>
                  <a:pt x="0" y="13159138"/>
                </a:lnTo>
                <a:lnTo>
                  <a:pt x="0" y="0"/>
                </a:lnTo>
                <a:close/>
              </a:path>
            </a:pathLst>
          </a:custGeom>
          <a:blipFill>
            <a:blip r:embed="rId3"/>
            <a:stretch>
              <a:fillRect l="-755" r="-47446" b="-4761"/>
            </a:stretch>
          </a:blipFill>
        </p:spPr>
      </p:sp>
      <p:sp>
        <p:nvSpPr>
          <p:cNvPr id="4" name="Freeform 4"/>
          <p:cNvSpPr/>
          <p:nvPr/>
        </p:nvSpPr>
        <p:spPr>
          <a:xfrm rot="-1391118">
            <a:off x="10316583" y="-291547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10800000">
            <a:off x="2538066" y="641041"/>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14187134" y="7285943"/>
            <a:ext cx="789010" cy="1764347"/>
          </a:xfrm>
          <a:custGeom>
            <a:avLst/>
            <a:gdLst/>
            <a:ahLst/>
            <a:cxnLst/>
            <a:rect l="l" t="t" r="r" b="b"/>
            <a:pathLst>
              <a:path w="789010" h="1764347">
                <a:moveTo>
                  <a:pt x="0" y="0"/>
                </a:moveTo>
                <a:lnTo>
                  <a:pt x="789011" y="0"/>
                </a:lnTo>
                <a:lnTo>
                  <a:pt x="789011" y="1764347"/>
                </a:lnTo>
                <a:lnTo>
                  <a:pt x="0" y="1764347"/>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a:off x="1604191" y="7456312"/>
            <a:ext cx="1107446" cy="1423610"/>
          </a:xfrm>
          <a:custGeom>
            <a:avLst/>
            <a:gdLst/>
            <a:ahLst/>
            <a:cxnLst/>
            <a:rect l="l" t="t" r="r" b="b"/>
            <a:pathLst>
              <a:path w="1107446" h="1423610">
                <a:moveTo>
                  <a:pt x="0" y="0"/>
                </a:moveTo>
                <a:lnTo>
                  <a:pt x="1107446" y="0"/>
                </a:lnTo>
                <a:lnTo>
                  <a:pt x="1107446" y="1423610"/>
                </a:lnTo>
                <a:lnTo>
                  <a:pt x="0" y="1423610"/>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Freeform 9"/>
          <p:cNvSpPr/>
          <p:nvPr/>
        </p:nvSpPr>
        <p:spPr>
          <a:xfrm>
            <a:off x="16183823" y="641041"/>
            <a:ext cx="2999781" cy="2955685"/>
          </a:xfrm>
          <a:custGeom>
            <a:avLst/>
            <a:gdLst/>
            <a:ahLst/>
            <a:cxnLst/>
            <a:rect l="l" t="t" r="r" b="b"/>
            <a:pathLst>
              <a:path w="2999781" h="2955685">
                <a:moveTo>
                  <a:pt x="0" y="0"/>
                </a:moveTo>
                <a:lnTo>
                  <a:pt x="2999781" y="0"/>
                </a:lnTo>
                <a:lnTo>
                  <a:pt x="2999781" y="2955684"/>
                </a:lnTo>
                <a:lnTo>
                  <a:pt x="0" y="2955684"/>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3122213" y="3272936"/>
            <a:ext cx="12043573" cy="5777355"/>
          </a:xfrm>
          <a:prstGeom prst="rect">
            <a:avLst/>
          </a:prstGeom>
        </p:spPr>
        <p:txBody>
          <a:bodyPr lIns="0" tIns="0" rIns="0" bIns="0" rtlCol="0" anchor="t">
            <a:spAutoFit/>
          </a:bodyPr>
          <a:lstStyle/>
          <a:p>
            <a:pPr algn="l">
              <a:lnSpc>
                <a:spcPts val="3864"/>
              </a:lnSpc>
            </a:pPr>
            <a:r>
              <a:rPr lang="en-US" sz="2400" b="1">
                <a:solidFill>
                  <a:srgbClr val="000000"/>
                </a:solidFill>
                <a:latin typeface="Now Bold"/>
                <a:ea typeface="Now Bold"/>
                <a:cs typeface="Now Bold"/>
                <a:sym typeface="Now Bold"/>
              </a:rPr>
              <a:t>MY KEY TAKEAWAYS:</a:t>
            </a:r>
          </a:p>
          <a:p>
            <a:pPr algn="l">
              <a:lnSpc>
                <a:spcPts val="3864"/>
              </a:lnSpc>
            </a:pPr>
            <a:r>
              <a:rPr lang="en-US" sz="2400">
                <a:solidFill>
                  <a:srgbClr val="000000"/>
                </a:solidFill>
                <a:latin typeface="Now"/>
                <a:ea typeface="Now"/>
                <a:cs typeface="Now"/>
                <a:sym typeface="Now"/>
              </a:rPr>
              <a:t>This project helped me connect data preparation, data modeling, DAX and dashboard development with business requirements.</a:t>
            </a:r>
          </a:p>
          <a:p>
            <a:pPr algn="l">
              <a:lnSpc>
                <a:spcPts val="1288"/>
              </a:lnSpc>
            </a:pPr>
            <a:endParaRPr lang="en-US" sz="2400">
              <a:solidFill>
                <a:srgbClr val="000000"/>
              </a:solidFill>
              <a:latin typeface="Now"/>
              <a:ea typeface="Now"/>
              <a:cs typeface="Now"/>
              <a:sym typeface="Now"/>
            </a:endParaRPr>
          </a:p>
          <a:p>
            <a:pPr algn="l">
              <a:lnSpc>
                <a:spcPts val="3864"/>
              </a:lnSpc>
            </a:pPr>
            <a:r>
              <a:rPr lang="en-US" sz="2400">
                <a:solidFill>
                  <a:srgbClr val="000000"/>
                </a:solidFill>
                <a:latin typeface="Now"/>
                <a:ea typeface="Now"/>
                <a:cs typeface="Now"/>
                <a:sym typeface="Now"/>
              </a:rPr>
              <a:t>I learned that effective data analytics involves more than creating visuals. It requires understanding the problem, validating the data, choosing meaningful metrics and presenting information clearly.</a:t>
            </a:r>
          </a:p>
          <a:p>
            <a:pPr algn="l">
              <a:lnSpc>
                <a:spcPts val="965"/>
              </a:lnSpc>
            </a:pPr>
            <a:endParaRPr lang="en-US" sz="2400">
              <a:solidFill>
                <a:srgbClr val="000000"/>
              </a:solidFill>
              <a:latin typeface="Now"/>
              <a:ea typeface="Now"/>
              <a:cs typeface="Now"/>
              <a:sym typeface="Now"/>
            </a:endParaRPr>
          </a:p>
          <a:p>
            <a:pPr algn="l">
              <a:lnSpc>
                <a:spcPts val="3864"/>
              </a:lnSpc>
            </a:pPr>
            <a:r>
              <a:rPr lang="en-US" sz="2400" b="1">
                <a:solidFill>
                  <a:srgbClr val="000000"/>
                </a:solidFill>
                <a:latin typeface="Now Bold"/>
                <a:ea typeface="Now Bold"/>
                <a:cs typeface="Now Bold"/>
                <a:sym typeface="Now Bold"/>
              </a:rPr>
              <a:t>WHAT'S NEXT?</a:t>
            </a:r>
          </a:p>
          <a:p>
            <a:pPr algn="l">
              <a:lnSpc>
                <a:spcPts val="3864"/>
              </a:lnSpc>
            </a:pPr>
            <a:r>
              <a:rPr lang="en-US" sz="2400">
                <a:solidFill>
                  <a:srgbClr val="000000"/>
                </a:solidFill>
                <a:latin typeface="Now"/>
                <a:ea typeface="Now"/>
                <a:cs typeface="Now"/>
                <a:sym typeface="Now"/>
              </a:rPr>
              <a:t>Continue practising, building projects and improving my skills as an aspiring Data Analyst.</a:t>
            </a:r>
          </a:p>
          <a:p>
            <a:pPr algn="l">
              <a:lnSpc>
                <a:spcPts val="1287"/>
              </a:lnSpc>
            </a:pPr>
            <a:endParaRPr lang="en-US" sz="2400">
              <a:solidFill>
                <a:srgbClr val="000000"/>
              </a:solidFill>
              <a:latin typeface="Now"/>
              <a:ea typeface="Now"/>
              <a:cs typeface="Now"/>
              <a:sym typeface="Now"/>
            </a:endParaRPr>
          </a:p>
          <a:p>
            <a:pPr algn="l">
              <a:lnSpc>
                <a:spcPts val="3864"/>
              </a:lnSpc>
            </a:pPr>
            <a:r>
              <a:rPr lang="en-US" sz="2400" b="1">
                <a:solidFill>
                  <a:srgbClr val="000000"/>
                </a:solidFill>
                <a:latin typeface="Now Bold"/>
                <a:ea typeface="Now Bold"/>
                <a:cs typeface="Now Bold"/>
                <a:sym typeface="Now Bold"/>
              </a:rPr>
              <a:t>THANK YOU!</a:t>
            </a:r>
          </a:p>
          <a:p>
            <a:pPr algn="l">
              <a:lnSpc>
                <a:spcPts val="3864"/>
              </a:lnSpc>
            </a:pPr>
            <a:endParaRPr lang="en-US" sz="2400" b="1">
              <a:solidFill>
                <a:srgbClr val="000000"/>
              </a:solidFill>
              <a:latin typeface="Now Bold"/>
              <a:ea typeface="Now Bold"/>
              <a:cs typeface="Now Bold"/>
              <a:sym typeface="Now Bold"/>
            </a:endParaRPr>
          </a:p>
        </p:txBody>
      </p:sp>
      <p:sp>
        <p:nvSpPr>
          <p:cNvPr id="11" name="TextBox 11"/>
          <p:cNvSpPr txBox="1"/>
          <p:nvPr/>
        </p:nvSpPr>
        <p:spPr>
          <a:xfrm>
            <a:off x="3794320" y="2299858"/>
            <a:ext cx="10320076" cy="808969"/>
          </a:xfrm>
          <a:prstGeom prst="rect">
            <a:avLst/>
          </a:prstGeom>
        </p:spPr>
        <p:txBody>
          <a:bodyPr lIns="0" tIns="0" rIns="0" bIns="0" rtlCol="0" anchor="t">
            <a:spAutoFit/>
          </a:bodyPr>
          <a:lstStyle/>
          <a:p>
            <a:pPr algn="ctr">
              <a:lnSpc>
                <a:spcPts val="5352"/>
              </a:lnSpc>
            </a:pPr>
            <a:r>
              <a:rPr lang="en-US" sz="6527">
                <a:solidFill>
                  <a:srgbClr val="000000"/>
                </a:solidFill>
                <a:latin typeface="Bryndan Write"/>
                <a:ea typeface="Bryndan Write"/>
                <a:cs typeface="Bryndan Write"/>
                <a:sym typeface="Bryndan Write"/>
              </a:rPr>
              <a:t>Key Learnings &amp; Thank You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77" b="-9277"/>
            </a:stretch>
          </a:blipFill>
        </p:spPr>
      </p:sp>
      <p:sp>
        <p:nvSpPr>
          <p:cNvPr id="3" name="Freeform 3"/>
          <p:cNvSpPr/>
          <p:nvPr/>
        </p:nvSpPr>
        <p:spPr>
          <a:xfrm rot="1463826">
            <a:off x="11898487" y="1371129"/>
            <a:ext cx="1947347" cy="1338359"/>
          </a:xfrm>
          <a:custGeom>
            <a:avLst/>
            <a:gdLst/>
            <a:ahLst/>
            <a:cxnLst/>
            <a:rect l="l" t="t" r="r" b="b"/>
            <a:pathLst>
              <a:path w="1947347" h="1338359">
                <a:moveTo>
                  <a:pt x="0" y="0"/>
                </a:moveTo>
                <a:lnTo>
                  <a:pt x="1947347" y="0"/>
                </a:lnTo>
                <a:lnTo>
                  <a:pt x="1947347" y="1338359"/>
                </a:lnTo>
                <a:lnTo>
                  <a:pt x="0" y="133835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4107262">
            <a:off x="-865704" y="-473050"/>
            <a:ext cx="3387936" cy="2297637"/>
          </a:xfrm>
          <a:custGeom>
            <a:avLst/>
            <a:gdLst/>
            <a:ahLst/>
            <a:cxnLst/>
            <a:rect l="l" t="t" r="r" b="b"/>
            <a:pathLst>
              <a:path w="3387936" h="2297637">
                <a:moveTo>
                  <a:pt x="0" y="0"/>
                </a:moveTo>
                <a:lnTo>
                  <a:pt x="3387936" y="0"/>
                </a:lnTo>
                <a:lnTo>
                  <a:pt x="3387936" y="2297637"/>
                </a:lnTo>
                <a:lnTo>
                  <a:pt x="0" y="229763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rot="6829267">
            <a:off x="15774367" y="8189225"/>
            <a:ext cx="3715300" cy="2519649"/>
          </a:xfrm>
          <a:custGeom>
            <a:avLst/>
            <a:gdLst/>
            <a:ahLst/>
            <a:cxnLst/>
            <a:rect l="l" t="t" r="r" b="b"/>
            <a:pathLst>
              <a:path w="3715300" h="2519649">
                <a:moveTo>
                  <a:pt x="0" y="0"/>
                </a:moveTo>
                <a:lnTo>
                  <a:pt x="3715301" y="0"/>
                </a:lnTo>
                <a:lnTo>
                  <a:pt x="3715301" y="2519649"/>
                </a:lnTo>
                <a:lnTo>
                  <a:pt x="0" y="25196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1391118">
            <a:off x="14634691" y="-2104991"/>
            <a:ext cx="3665666" cy="3796829"/>
          </a:xfrm>
          <a:custGeom>
            <a:avLst/>
            <a:gdLst/>
            <a:ahLst/>
            <a:cxnLst/>
            <a:rect l="l" t="t" r="r" b="b"/>
            <a:pathLst>
              <a:path w="3665666" h="3796829">
                <a:moveTo>
                  <a:pt x="0" y="0"/>
                </a:moveTo>
                <a:lnTo>
                  <a:pt x="3665665" y="0"/>
                </a:lnTo>
                <a:lnTo>
                  <a:pt x="3665665" y="3796829"/>
                </a:lnTo>
                <a:lnTo>
                  <a:pt x="0" y="379682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rot="-6979330">
            <a:off x="-712187" y="8552632"/>
            <a:ext cx="3453702" cy="1902676"/>
          </a:xfrm>
          <a:custGeom>
            <a:avLst/>
            <a:gdLst/>
            <a:ahLst/>
            <a:cxnLst/>
            <a:rect l="l" t="t" r="r" b="b"/>
            <a:pathLst>
              <a:path w="3453702" h="1902676">
                <a:moveTo>
                  <a:pt x="0" y="0"/>
                </a:moveTo>
                <a:lnTo>
                  <a:pt x="3453703" y="0"/>
                </a:lnTo>
                <a:lnTo>
                  <a:pt x="3453703" y="1902676"/>
                </a:lnTo>
                <a:lnTo>
                  <a:pt x="0" y="1902676"/>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rot="-2699999">
            <a:off x="3918036" y="2452603"/>
            <a:ext cx="2068144" cy="1756042"/>
          </a:xfrm>
          <a:custGeom>
            <a:avLst/>
            <a:gdLst/>
            <a:ahLst/>
            <a:cxnLst/>
            <a:rect l="l" t="t" r="r" b="b"/>
            <a:pathLst>
              <a:path w="2068144" h="1756042">
                <a:moveTo>
                  <a:pt x="0" y="0"/>
                </a:moveTo>
                <a:lnTo>
                  <a:pt x="2068145" y="0"/>
                </a:lnTo>
                <a:lnTo>
                  <a:pt x="2068145" y="1756042"/>
                </a:lnTo>
                <a:lnTo>
                  <a:pt x="0" y="175604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9" name="Freeform 9"/>
          <p:cNvSpPr/>
          <p:nvPr/>
        </p:nvSpPr>
        <p:spPr>
          <a:xfrm rot="7334544">
            <a:off x="13001227" y="5822549"/>
            <a:ext cx="2068144" cy="1756042"/>
          </a:xfrm>
          <a:custGeom>
            <a:avLst/>
            <a:gdLst/>
            <a:ahLst/>
            <a:cxnLst/>
            <a:rect l="l" t="t" r="r" b="b"/>
            <a:pathLst>
              <a:path w="2068144" h="1756042">
                <a:moveTo>
                  <a:pt x="0" y="0"/>
                </a:moveTo>
                <a:lnTo>
                  <a:pt x="2068144" y="0"/>
                </a:lnTo>
                <a:lnTo>
                  <a:pt x="2068144" y="1756043"/>
                </a:lnTo>
                <a:lnTo>
                  <a:pt x="0" y="175604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rot="2342060">
            <a:off x="6129685" y="5299677"/>
            <a:ext cx="5703373" cy="4904900"/>
          </a:xfrm>
          <a:custGeom>
            <a:avLst/>
            <a:gdLst/>
            <a:ahLst/>
            <a:cxnLst/>
            <a:rect l="l" t="t" r="r" b="b"/>
            <a:pathLst>
              <a:path w="5703373" h="4904900">
                <a:moveTo>
                  <a:pt x="0" y="0"/>
                </a:moveTo>
                <a:lnTo>
                  <a:pt x="5703372" y="0"/>
                </a:lnTo>
                <a:lnTo>
                  <a:pt x="5703372" y="4904900"/>
                </a:lnTo>
                <a:lnTo>
                  <a:pt x="0" y="490490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1" name="Freeform 11"/>
          <p:cNvSpPr/>
          <p:nvPr/>
        </p:nvSpPr>
        <p:spPr>
          <a:xfrm>
            <a:off x="6842076" y="1028700"/>
            <a:ext cx="4603848" cy="4765294"/>
          </a:xfrm>
          <a:custGeom>
            <a:avLst/>
            <a:gdLst/>
            <a:ahLst/>
            <a:cxnLst/>
            <a:rect l="l" t="t" r="r" b="b"/>
            <a:pathLst>
              <a:path w="4603848" h="4765294">
                <a:moveTo>
                  <a:pt x="0" y="0"/>
                </a:moveTo>
                <a:lnTo>
                  <a:pt x="4603848" y="0"/>
                </a:lnTo>
                <a:lnTo>
                  <a:pt x="4603848" y="4765294"/>
                </a:lnTo>
                <a:lnTo>
                  <a:pt x="0" y="4765294"/>
                </a:lnTo>
                <a:lnTo>
                  <a:pt x="0" y="0"/>
                </a:lnTo>
                <a:close/>
              </a:path>
            </a:pathLst>
          </a:custGeom>
          <a:blipFill>
            <a:blip r:embed="rId10"/>
            <a:stretch>
              <a:fillRect l="-1753" r="-1753"/>
            </a:stretch>
          </a:blipFill>
        </p:spPr>
      </p:sp>
      <p:sp>
        <p:nvSpPr>
          <p:cNvPr id="12" name="TextBox 12"/>
          <p:cNvSpPr txBox="1"/>
          <p:nvPr/>
        </p:nvSpPr>
        <p:spPr>
          <a:xfrm>
            <a:off x="5437224" y="5936869"/>
            <a:ext cx="7217155" cy="3773392"/>
          </a:xfrm>
          <a:prstGeom prst="rect">
            <a:avLst/>
          </a:prstGeom>
        </p:spPr>
        <p:txBody>
          <a:bodyPr lIns="0" tIns="0" rIns="0" bIns="0" rtlCol="0" anchor="t">
            <a:spAutoFit/>
          </a:bodyPr>
          <a:lstStyle/>
          <a:p>
            <a:pPr algn="ctr">
              <a:lnSpc>
                <a:spcPts val="14024"/>
              </a:lnSpc>
            </a:pPr>
            <a:r>
              <a:rPr lang="en-US" sz="14024">
                <a:solidFill>
                  <a:srgbClr val="FFFFFF"/>
                </a:solidFill>
                <a:latin typeface="Bryndan Write"/>
                <a:ea typeface="Bryndan Write"/>
                <a:cs typeface="Bryndan Write"/>
                <a:sym typeface="Bryndan Writ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1123</Words>
  <Application>Microsoft Office PowerPoint</Application>
  <PresentationFormat>Custom</PresentationFormat>
  <Paragraphs>209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Gochi Hand</vt:lpstr>
      <vt:lpstr>Bryndan Write</vt:lpstr>
      <vt:lpstr>Now Bold</vt:lpstr>
      <vt:lpstr>Calibri</vt:lpstr>
      <vt:lpstr>Now</vt:lpstr>
      <vt:lpstr>Canva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dc:creator>Lazar Arun Kumar B</dc:creator>
  <cp:lastModifiedBy>Arun lucky</cp:lastModifiedBy>
  <cp:revision>2</cp:revision>
  <dcterms:created xsi:type="dcterms:W3CDTF">2006-08-16T00:00:00Z</dcterms:created>
  <dcterms:modified xsi:type="dcterms:W3CDTF">2026-10-17T05:03:58Z</dcterms:modified>
  <dc:identifier>DAHYKD0Tvyc</dc:identifier>
</cp:coreProperties>
</file>